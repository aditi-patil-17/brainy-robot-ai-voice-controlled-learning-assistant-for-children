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Lst>
  <p:sldSz cx="18288000" cy="10287000"/>
  <p:notesSz cx="6858000" cy="9144000"/>
  <p:embeddedFontLst>
    <p:embeddedFont>
      <p:font typeface="Calibri (MS) Italics" panose="020B0604020202020204" charset="0"/>
      <p:regular r:id="rId29"/>
    </p:embeddedFont>
    <p:embeddedFont>
      <p:font typeface="Arial Bold" panose="020B0704020202020204" pitchFamily="34" charset="0"/>
      <p:bold r:id="rId30"/>
    </p:embeddedFont>
    <p:embeddedFont>
      <p:font typeface="Arimo Bold" panose="020B0604020202020204" charset="0"/>
      <p:regular r:id="rId31"/>
    </p:embeddedFont>
    <p:embeddedFont>
      <p:font typeface="Arimo Italics" panose="020B0604020202020204" charset="0"/>
      <p:regular r:id="rId32"/>
    </p:embeddedFont>
    <p:embeddedFont>
      <p:font typeface="Calibri (MS) Bold" panose="020B0604020202020204" charset="0"/>
      <p:regular r:id="rId33"/>
    </p:embeddedFont>
    <p:embeddedFont>
      <p:font typeface="Calibri" panose="020F0502020204030204" pitchFamily="34" charset="0"/>
      <p:regular r:id="rId34"/>
      <p:bold r:id="rId35"/>
      <p:italic r:id="rId36"/>
      <p:boldItalic r:id="rId37"/>
    </p:embeddedFont>
    <p:embeddedFont>
      <p:font typeface="Times New Roman Bold" panose="02020803070505020304" pitchFamily="18" charset="0"/>
      <p:bold r:id="rId38"/>
    </p:embeddedFont>
    <p:embeddedFont>
      <p:font typeface="Canva Sans" panose="020B0604020202020204" charset="0"/>
      <p:regular r:id="rId39"/>
    </p:embeddedFont>
    <p:embeddedFont>
      <p:font typeface="Calibri (MS)" panose="020B0604020202020204" charset="0"/>
      <p:regular r:id="rId40"/>
    </p:embeddedFont>
    <p:embeddedFont>
      <p:font typeface="Arimo" panose="020B0604020202020204" charset="0"/>
      <p:regular r:id="rId41"/>
    </p:embeddedFont>
    <p:embeddedFont>
      <p:font typeface="Inter" panose="020B060402020202020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researchgate.net/publication/281901068_Speech_Recognition_Techniques_A_Review" TargetMode="External"/><Relationship Id="rId2" Type="http://schemas.openxmlformats.org/officeDocument/2006/relationships/hyperlink" Target="https://ar5iv.labs.arxiv.org/html/2401.07518" TargetMode="External"/><Relationship Id="rId1" Type="http://schemas.openxmlformats.org/officeDocument/2006/relationships/slideLayout" Target="../slideLayouts/slideLayout7.xml"/><Relationship Id="rId4" Type="http://schemas.openxmlformats.org/officeDocument/2006/relationships/hyperlink" Target="https://www.researchgate.net/publication/332180327_Artificial_Intelligence_in_Education_Promise_and_Implications_for_Teaching_and_Lear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754501" y="108416"/>
            <a:ext cx="6429375" cy="1263184"/>
          </a:xfrm>
          <a:custGeom>
            <a:avLst/>
            <a:gdLst/>
            <a:ahLst/>
            <a:cxnLst/>
            <a:rect l="l" t="t" r="r" b="b"/>
            <a:pathLst>
              <a:path w="6429375" h="1263184">
                <a:moveTo>
                  <a:pt x="0" y="0"/>
                </a:moveTo>
                <a:lnTo>
                  <a:pt x="6429375" y="0"/>
                </a:lnTo>
                <a:lnTo>
                  <a:pt x="6429375" y="1263184"/>
                </a:lnTo>
                <a:lnTo>
                  <a:pt x="0" y="1263184"/>
                </a:lnTo>
                <a:lnTo>
                  <a:pt x="0" y="0"/>
                </a:lnTo>
                <a:close/>
              </a:path>
            </a:pathLst>
          </a:custGeom>
          <a:blipFill>
            <a:blip r:embed="rId2"/>
            <a:stretch>
              <a:fillRect b="-24417"/>
            </a:stretch>
          </a:blipFill>
        </p:spPr>
      </p:sp>
      <p:grpSp>
        <p:nvGrpSpPr>
          <p:cNvPr id="3" name="Group 3"/>
          <p:cNvGrpSpPr/>
          <p:nvPr/>
        </p:nvGrpSpPr>
        <p:grpSpPr>
          <a:xfrm>
            <a:off x="1280160" y="3223740"/>
            <a:ext cx="15453360" cy="880722"/>
            <a:chOff x="0" y="0"/>
            <a:chExt cx="20604480" cy="1174296"/>
          </a:xfrm>
        </p:grpSpPr>
        <p:sp>
          <p:nvSpPr>
            <p:cNvPr id="4" name="Freeform 4"/>
            <p:cNvSpPr/>
            <p:nvPr/>
          </p:nvSpPr>
          <p:spPr>
            <a:xfrm>
              <a:off x="0" y="0"/>
              <a:ext cx="20604480" cy="1174296"/>
            </a:xfrm>
            <a:custGeom>
              <a:avLst/>
              <a:gdLst/>
              <a:ahLst/>
              <a:cxnLst/>
              <a:rect l="l" t="t" r="r" b="b"/>
              <a:pathLst>
                <a:path w="20604480" h="1174296">
                  <a:moveTo>
                    <a:pt x="0" y="0"/>
                  </a:moveTo>
                  <a:lnTo>
                    <a:pt x="20604480" y="0"/>
                  </a:lnTo>
                  <a:lnTo>
                    <a:pt x="20604480" y="1174296"/>
                  </a:lnTo>
                  <a:lnTo>
                    <a:pt x="0" y="1174296"/>
                  </a:lnTo>
                  <a:close/>
                </a:path>
              </a:pathLst>
            </a:custGeom>
            <a:solidFill>
              <a:srgbClr val="000000">
                <a:alpha val="0"/>
              </a:srgbClr>
            </a:solidFill>
          </p:spPr>
        </p:sp>
        <p:sp>
          <p:nvSpPr>
            <p:cNvPr id="5" name="TextBox 5"/>
            <p:cNvSpPr txBox="1"/>
            <p:nvPr/>
          </p:nvSpPr>
          <p:spPr>
            <a:xfrm>
              <a:off x="0" y="-266700"/>
              <a:ext cx="20604480" cy="1440996"/>
            </a:xfrm>
            <a:prstGeom prst="rect">
              <a:avLst/>
            </a:prstGeom>
          </p:spPr>
          <p:txBody>
            <a:bodyPr lIns="0" tIns="0" rIns="0" bIns="0" rtlCol="0" anchor="t"/>
            <a:lstStyle/>
            <a:p>
              <a:pPr algn="ctr">
                <a:lnSpc>
                  <a:spcPts val="6480"/>
                </a:lnSpc>
              </a:pPr>
              <a:r>
                <a:rPr lang="en-US" sz="3600" b="1">
                  <a:solidFill>
                    <a:srgbClr val="333333"/>
                  </a:solidFill>
                  <a:latin typeface="Calibri (MS) Bold"/>
                  <a:ea typeface="Calibri (MS) Bold"/>
                  <a:cs typeface="Calibri (MS) Bold"/>
                  <a:sym typeface="Calibri (MS) Bold"/>
                </a:rPr>
                <a:t>Project Title : </a:t>
              </a:r>
              <a:r>
                <a:rPr lang="en-US" sz="3600" b="1">
                  <a:solidFill>
                    <a:srgbClr val="000000"/>
                  </a:solidFill>
                  <a:latin typeface="Calibri (MS) Bold"/>
                  <a:ea typeface="Calibri (MS) Bold"/>
                  <a:cs typeface="Calibri (MS) Bold"/>
                  <a:sym typeface="Calibri (MS) Bold"/>
                </a:rPr>
                <a:t>Voice Control Interactive Learning System for Children</a:t>
              </a:r>
              <a:r>
                <a:rPr lang="en-US" sz="3600" b="1">
                  <a:solidFill>
                    <a:srgbClr val="333333"/>
                  </a:solidFill>
                  <a:latin typeface="Calibri (MS) Bold"/>
                  <a:ea typeface="Calibri (MS) Bold"/>
                  <a:cs typeface="Calibri (MS) Bold"/>
                  <a:sym typeface="Calibri (MS) Bold"/>
                </a:rPr>
                <a:t> </a:t>
              </a:r>
            </a:p>
          </p:txBody>
        </p:sp>
      </p:grpSp>
      <p:grpSp>
        <p:nvGrpSpPr>
          <p:cNvPr id="6" name="Group 6"/>
          <p:cNvGrpSpPr/>
          <p:nvPr/>
        </p:nvGrpSpPr>
        <p:grpSpPr>
          <a:xfrm>
            <a:off x="3879477" y="1411941"/>
            <a:ext cx="10529046" cy="701269"/>
            <a:chOff x="0" y="0"/>
            <a:chExt cx="14038728" cy="935025"/>
          </a:xfrm>
        </p:grpSpPr>
        <p:sp>
          <p:nvSpPr>
            <p:cNvPr id="7" name="Freeform 7"/>
            <p:cNvSpPr/>
            <p:nvPr/>
          </p:nvSpPr>
          <p:spPr>
            <a:xfrm>
              <a:off x="0" y="0"/>
              <a:ext cx="14038728" cy="935025"/>
            </a:xfrm>
            <a:custGeom>
              <a:avLst/>
              <a:gdLst/>
              <a:ahLst/>
              <a:cxnLst/>
              <a:rect l="l" t="t" r="r" b="b"/>
              <a:pathLst>
                <a:path w="14038728" h="935025">
                  <a:moveTo>
                    <a:pt x="0" y="0"/>
                  </a:moveTo>
                  <a:lnTo>
                    <a:pt x="14038728" y="0"/>
                  </a:lnTo>
                  <a:lnTo>
                    <a:pt x="14038728" y="935025"/>
                  </a:lnTo>
                  <a:lnTo>
                    <a:pt x="0" y="935025"/>
                  </a:lnTo>
                  <a:close/>
                </a:path>
              </a:pathLst>
            </a:custGeom>
            <a:solidFill>
              <a:srgbClr val="000000">
                <a:alpha val="0"/>
              </a:srgbClr>
            </a:solidFill>
          </p:spPr>
        </p:sp>
        <p:sp>
          <p:nvSpPr>
            <p:cNvPr id="8" name="TextBox 8"/>
            <p:cNvSpPr txBox="1"/>
            <p:nvPr/>
          </p:nvSpPr>
          <p:spPr>
            <a:xfrm>
              <a:off x="0" y="-95250"/>
              <a:ext cx="14038728" cy="1030275"/>
            </a:xfrm>
            <a:prstGeom prst="rect">
              <a:avLst/>
            </a:prstGeom>
          </p:spPr>
          <p:txBody>
            <a:bodyPr lIns="0" tIns="0" rIns="0" bIns="0" rtlCol="0" anchor="t"/>
            <a:lstStyle/>
            <a:p>
              <a:pPr algn="ctr">
                <a:lnSpc>
                  <a:spcPts val="4579"/>
                </a:lnSpc>
              </a:pPr>
              <a:r>
                <a:rPr lang="en-US" sz="3600" b="1">
                  <a:solidFill>
                    <a:srgbClr val="000000"/>
                  </a:solidFill>
                  <a:latin typeface="Times New Roman Bold"/>
                  <a:ea typeface="Times New Roman Bold"/>
                  <a:cs typeface="Times New Roman Bold"/>
                  <a:sym typeface="Times New Roman Bold"/>
                </a:rPr>
                <a:t>School of E &amp; TC Engineering (SEE)</a:t>
              </a:r>
            </a:p>
          </p:txBody>
        </p:sp>
      </p:grpSp>
      <p:grpSp>
        <p:nvGrpSpPr>
          <p:cNvPr id="9" name="Group 9"/>
          <p:cNvGrpSpPr/>
          <p:nvPr/>
        </p:nvGrpSpPr>
        <p:grpSpPr>
          <a:xfrm>
            <a:off x="4572000" y="2302044"/>
            <a:ext cx="9144000" cy="550055"/>
            <a:chOff x="0" y="0"/>
            <a:chExt cx="12192000" cy="733406"/>
          </a:xfrm>
        </p:grpSpPr>
        <p:sp>
          <p:nvSpPr>
            <p:cNvPr id="10" name="Freeform 10"/>
            <p:cNvSpPr/>
            <p:nvPr/>
          </p:nvSpPr>
          <p:spPr>
            <a:xfrm>
              <a:off x="0" y="0"/>
              <a:ext cx="12192000" cy="733406"/>
            </a:xfrm>
            <a:custGeom>
              <a:avLst/>
              <a:gdLst/>
              <a:ahLst/>
              <a:cxnLst/>
              <a:rect l="l" t="t" r="r" b="b"/>
              <a:pathLst>
                <a:path w="12192000" h="733406">
                  <a:moveTo>
                    <a:pt x="0" y="0"/>
                  </a:moveTo>
                  <a:lnTo>
                    <a:pt x="12192000" y="0"/>
                  </a:lnTo>
                  <a:lnTo>
                    <a:pt x="12192000" y="733406"/>
                  </a:lnTo>
                  <a:lnTo>
                    <a:pt x="0" y="733406"/>
                  </a:lnTo>
                  <a:close/>
                </a:path>
              </a:pathLst>
            </a:custGeom>
            <a:solidFill>
              <a:srgbClr val="000000">
                <a:alpha val="0"/>
              </a:srgbClr>
            </a:solidFill>
          </p:spPr>
        </p:sp>
        <p:sp>
          <p:nvSpPr>
            <p:cNvPr id="11" name="TextBox 11"/>
            <p:cNvSpPr txBox="1"/>
            <p:nvPr/>
          </p:nvSpPr>
          <p:spPr>
            <a:xfrm>
              <a:off x="0" y="-66675"/>
              <a:ext cx="12192000" cy="800081"/>
            </a:xfrm>
            <a:prstGeom prst="rect">
              <a:avLst/>
            </a:prstGeom>
          </p:spPr>
          <p:txBody>
            <a:bodyPr lIns="0" tIns="0" rIns="0" bIns="0" rtlCol="0" anchor="t"/>
            <a:lstStyle/>
            <a:p>
              <a:pPr algn="ctr">
                <a:lnSpc>
                  <a:spcPts val="3052"/>
                </a:lnSpc>
              </a:pPr>
              <a:r>
                <a:rPr lang="en-US" sz="2400" b="1">
                  <a:solidFill>
                    <a:srgbClr val="000000"/>
                  </a:solidFill>
                  <a:latin typeface="Times New Roman Bold"/>
                  <a:ea typeface="Times New Roman Bold"/>
                  <a:cs typeface="Times New Roman Bold"/>
                  <a:sym typeface="Times New Roman Bold"/>
                </a:rPr>
                <a:t>Project Design Sem III/SY B.Tech.</a:t>
              </a:r>
            </a:p>
          </p:txBody>
        </p:sp>
      </p:grpSp>
      <p:grpSp>
        <p:nvGrpSpPr>
          <p:cNvPr id="12" name="Group 12"/>
          <p:cNvGrpSpPr/>
          <p:nvPr/>
        </p:nvGrpSpPr>
        <p:grpSpPr>
          <a:xfrm>
            <a:off x="3448005" y="4763665"/>
            <a:ext cx="11575922" cy="2846937"/>
            <a:chOff x="0" y="0"/>
            <a:chExt cx="15434563" cy="3795916"/>
          </a:xfrm>
        </p:grpSpPr>
        <p:sp>
          <p:nvSpPr>
            <p:cNvPr id="13" name="Freeform 13"/>
            <p:cNvSpPr/>
            <p:nvPr/>
          </p:nvSpPr>
          <p:spPr>
            <a:xfrm>
              <a:off x="0" y="0"/>
              <a:ext cx="15434563" cy="3795916"/>
            </a:xfrm>
            <a:custGeom>
              <a:avLst/>
              <a:gdLst/>
              <a:ahLst/>
              <a:cxnLst/>
              <a:rect l="l" t="t" r="r" b="b"/>
              <a:pathLst>
                <a:path w="15434563" h="3795916">
                  <a:moveTo>
                    <a:pt x="0" y="0"/>
                  </a:moveTo>
                  <a:lnTo>
                    <a:pt x="15434563" y="0"/>
                  </a:lnTo>
                  <a:lnTo>
                    <a:pt x="15434563" y="3795916"/>
                  </a:lnTo>
                  <a:lnTo>
                    <a:pt x="0" y="3795916"/>
                  </a:lnTo>
                  <a:close/>
                </a:path>
              </a:pathLst>
            </a:custGeom>
            <a:solidFill>
              <a:srgbClr val="000000">
                <a:alpha val="0"/>
              </a:srgbClr>
            </a:solidFill>
          </p:spPr>
        </p:sp>
        <p:sp>
          <p:nvSpPr>
            <p:cNvPr id="14" name="TextBox 14"/>
            <p:cNvSpPr txBox="1"/>
            <p:nvPr/>
          </p:nvSpPr>
          <p:spPr>
            <a:xfrm>
              <a:off x="0" y="-209550"/>
              <a:ext cx="15434563" cy="4005466"/>
            </a:xfrm>
            <a:prstGeom prst="rect">
              <a:avLst/>
            </a:prstGeom>
          </p:spPr>
          <p:txBody>
            <a:bodyPr lIns="0" tIns="0" rIns="0" bIns="0" rtlCol="0" anchor="t"/>
            <a:lstStyle/>
            <a:p>
              <a:pPr algn="l">
                <a:lnSpc>
                  <a:spcPts val="4860"/>
                </a:lnSpc>
              </a:pPr>
              <a:r>
                <a:rPr lang="en-US" sz="2700" b="1">
                  <a:solidFill>
                    <a:srgbClr val="000000"/>
                  </a:solidFill>
                  <a:latin typeface="Times New Roman Bold"/>
                  <a:ea typeface="Times New Roman Bold"/>
                  <a:cs typeface="Times New Roman Bold"/>
                  <a:sym typeface="Times New Roman Bold"/>
                </a:rPr>
                <a:t> Student 1 Name : Aditi Patil		                 	</a:t>
              </a:r>
            </a:p>
            <a:p>
              <a:pPr algn="l">
                <a:lnSpc>
                  <a:spcPts val="4860"/>
                </a:lnSpc>
              </a:pPr>
              <a:r>
                <a:rPr lang="en-US" sz="2700" b="1">
                  <a:solidFill>
                    <a:srgbClr val="000000"/>
                  </a:solidFill>
                  <a:latin typeface="Times New Roman Bold"/>
                  <a:ea typeface="Times New Roman Bold"/>
                  <a:cs typeface="Times New Roman Bold"/>
                  <a:sym typeface="Times New Roman Bold"/>
                </a:rPr>
                <a:t> Student 2 Name : Bhakti Suryawanshi 	                	                            </a:t>
              </a:r>
            </a:p>
            <a:p>
              <a:pPr algn="l">
                <a:lnSpc>
                  <a:spcPts val="4860"/>
                </a:lnSpc>
              </a:pPr>
              <a:r>
                <a:rPr lang="en-US" sz="2700" b="1">
                  <a:solidFill>
                    <a:srgbClr val="000000"/>
                  </a:solidFill>
                  <a:latin typeface="Times New Roman Bold"/>
                  <a:ea typeface="Times New Roman Bold"/>
                  <a:cs typeface="Times New Roman Bold"/>
                  <a:sym typeface="Times New Roman Bold"/>
                </a:rPr>
                <a:t> Student 3 Name : Shrawani Kanse	                	 </a:t>
              </a:r>
            </a:p>
            <a:p>
              <a:pPr algn="l">
                <a:lnSpc>
                  <a:spcPts val="4860"/>
                </a:lnSpc>
              </a:pPr>
              <a:r>
                <a:rPr lang="en-US" sz="2700" b="1">
                  <a:solidFill>
                    <a:srgbClr val="000000"/>
                  </a:solidFill>
                  <a:latin typeface="Times New Roman Bold"/>
                  <a:ea typeface="Times New Roman Bold"/>
                  <a:cs typeface="Times New Roman Bold"/>
                  <a:sym typeface="Times New Roman Bold"/>
                </a:rPr>
                <a:t> Student 4 Name : Aditi Gargade	                 	</a:t>
              </a:r>
            </a:p>
          </p:txBody>
        </p:sp>
      </p:grpSp>
      <p:sp>
        <p:nvSpPr>
          <p:cNvPr id="15" name="TextBox 15"/>
          <p:cNvSpPr txBox="1"/>
          <p:nvPr/>
        </p:nvSpPr>
        <p:spPr>
          <a:xfrm>
            <a:off x="9078945" y="4554115"/>
            <a:ext cx="5411427" cy="2476880"/>
          </a:xfrm>
          <a:prstGeom prst="rect">
            <a:avLst/>
          </a:prstGeom>
        </p:spPr>
        <p:txBody>
          <a:bodyPr lIns="0" tIns="0" rIns="0" bIns="0" rtlCol="0" anchor="t">
            <a:spAutoFit/>
          </a:bodyPr>
          <a:lstStyle/>
          <a:p>
            <a:pPr algn="ctr">
              <a:lnSpc>
                <a:spcPts val="4887"/>
              </a:lnSpc>
            </a:pPr>
            <a:r>
              <a:rPr lang="en-US" sz="2700" b="1">
                <a:solidFill>
                  <a:srgbClr val="000000"/>
                </a:solidFill>
                <a:latin typeface="Times New Roman Bold"/>
                <a:ea typeface="Times New Roman Bold"/>
                <a:cs typeface="Times New Roman Bold"/>
                <a:sym typeface="Times New Roman Bold"/>
              </a:rPr>
              <a:t>202301070136</a:t>
            </a:r>
          </a:p>
          <a:p>
            <a:pPr algn="ctr">
              <a:lnSpc>
                <a:spcPts val="4887"/>
              </a:lnSpc>
            </a:pPr>
            <a:r>
              <a:rPr lang="en-US" sz="2700" b="1">
                <a:solidFill>
                  <a:srgbClr val="000000"/>
                </a:solidFill>
                <a:latin typeface="Times New Roman Bold"/>
                <a:ea typeface="Times New Roman Bold"/>
                <a:cs typeface="Times New Roman Bold"/>
                <a:sym typeface="Times New Roman Bold"/>
              </a:rPr>
              <a:t>202301070043</a:t>
            </a:r>
          </a:p>
          <a:p>
            <a:pPr algn="ctr">
              <a:lnSpc>
                <a:spcPts val="4887"/>
              </a:lnSpc>
            </a:pPr>
            <a:r>
              <a:rPr lang="en-US" sz="2700" b="1">
                <a:solidFill>
                  <a:srgbClr val="000000"/>
                </a:solidFill>
                <a:latin typeface="Times New Roman Bold"/>
                <a:ea typeface="Times New Roman Bold"/>
                <a:cs typeface="Times New Roman Bold"/>
                <a:sym typeface="Times New Roman Bold"/>
              </a:rPr>
              <a:t>202301090002</a:t>
            </a:r>
          </a:p>
          <a:p>
            <a:pPr algn="ctr">
              <a:lnSpc>
                <a:spcPts val="4887"/>
              </a:lnSpc>
            </a:pPr>
            <a:r>
              <a:rPr lang="en-US" sz="2700" b="1">
                <a:solidFill>
                  <a:srgbClr val="000000"/>
                </a:solidFill>
                <a:latin typeface="Times New Roman Bold"/>
                <a:ea typeface="Times New Roman Bold"/>
                <a:cs typeface="Times New Roman Bold"/>
                <a:sym typeface="Times New Roman Bold"/>
              </a:rPr>
              <a:t>202301090043</a:t>
            </a:r>
          </a:p>
        </p:txBody>
      </p:sp>
      <p:sp>
        <p:nvSpPr>
          <p:cNvPr id="16" name="TextBox 16"/>
          <p:cNvSpPr txBox="1"/>
          <p:nvPr/>
        </p:nvSpPr>
        <p:spPr>
          <a:xfrm>
            <a:off x="7588038" y="8155506"/>
            <a:ext cx="2762301" cy="1569519"/>
          </a:xfrm>
          <a:prstGeom prst="rect">
            <a:avLst/>
          </a:prstGeom>
        </p:spPr>
        <p:txBody>
          <a:bodyPr lIns="0" tIns="0" rIns="0" bIns="0" rtlCol="0" anchor="t">
            <a:spAutoFit/>
          </a:bodyPr>
          <a:lstStyle/>
          <a:p>
            <a:pPr algn="ctr">
              <a:lnSpc>
                <a:spcPts val="4041"/>
              </a:lnSpc>
            </a:pPr>
            <a:r>
              <a:rPr lang="en-US" sz="2886">
                <a:solidFill>
                  <a:srgbClr val="000000"/>
                </a:solidFill>
                <a:latin typeface="Times New Roman"/>
                <a:ea typeface="Times New Roman"/>
                <a:cs typeface="Times New Roman"/>
                <a:sym typeface="Times New Roman"/>
              </a:rPr>
              <a:t> GUIDED BY</a:t>
            </a:r>
          </a:p>
          <a:p>
            <a:pPr algn="ctr">
              <a:lnSpc>
                <a:spcPts val="4041"/>
              </a:lnSpc>
            </a:pPr>
            <a:r>
              <a:rPr lang="en-US" sz="2886">
                <a:solidFill>
                  <a:srgbClr val="000000"/>
                </a:solidFill>
                <a:latin typeface="Times New Roman"/>
                <a:ea typeface="Times New Roman"/>
                <a:cs typeface="Times New Roman"/>
                <a:sym typeface="Times New Roman"/>
              </a:rPr>
              <a:t>Prof. Vipin Yadav</a:t>
            </a:r>
          </a:p>
          <a:p>
            <a:pPr algn="ctr">
              <a:lnSpc>
                <a:spcPts val="4041"/>
              </a:lnSpc>
            </a:pPr>
            <a:r>
              <a:rPr lang="en-US" sz="2886" b="1">
                <a:solidFill>
                  <a:srgbClr val="000000"/>
                </a:solidFill>
                <a:latin typeface="Times New Roman Bold"/>
                <a:ea typeface="Times New Roman Bold"/>
                <a:cs typeface="Times New Roman Bold"/>
                <a:sym typeface="Times New Roman Bold"/>
              </a:rPr>
              <a:t>Guide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A9D18E"/>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Contents</a:t>
              </a:r>
            </a:p>
          </p:txBody>
        </p:sp>
      </p:grpSp>
      <p:grpSp>
        <p:nvGrpSpPr>
          <p:cNvPr id="5" name="Group 5"/>
          <p:cNvGrpSpPr/>
          <p:nvPr/>
        </p:nvGrpSpPr>
        <p:grpSpPr>
          <a:xfrm>
            <a:off x="217918" y="1692546"/>
            <a:ext cx="18287998" cy="7757606"/>
            <a:chOff x="0" y="0"/>
            <a:chExt cx="24383998" cy="10343474"/>
          </a:xfrm>
        </p:grpSpPr>
        <p:sp>
          <p:nvSpPr>
            <p:cNvPr id="6" name="Freeform 6"/>
            <p:cNvSpPr/>
            <p:nvPr/>
          </p:nvSpPr>
          <p:spPr>
            <a:xfrm>
              <a:off x="0" y="0"/>
              <a:ext cx="24383998" cy="10343474"/>
            </a:xfrm>
            <a:custGeom>
              <a:avLst/>
              <a:gdLst/>
              <a:ahLst/>
              <a:cxnLst/>
              <a:rect l="l" t="t" r="r" b="b"/>
              <a:pathLst>
                <a:path w="24383998" h="10343474">
                  <a:moveTo>
                    <a:pt x="0" y="0"/>
                  </a:moveTo>
                  <a:lnTo>
                    <a:pt x="24383998" y="0"/>
                  </a:lnTo>
                  <a:lnTo>
                    <a:pt x="24383998" y="10343474"/>
                  </a:lnTo>
                  <a:lnTo>
                    <a:pt x="0" y="10343474"/>
                  </a:lnTo>
                  <a:close/>
                </a:path>
              </a:pathLst>
            </a:custGeom>
            <a:solidFill>
              <a:srgbClr val="000000">
                <a:alpha val="0"/>
              </a:srgbClr>
            </a:solidFill>
          </p:spPr>
        </p:sp>
        <p:sp>
          <p:nvSpPr>
            <p:cNvPr id="7" name="TextBox 7"/>
            <p:cNvSpPr txBox="1"/>
            <p:nvPr/>
          </p:nvSpPr>
          <p:spPr>
            <a:xfrm>
              <a:off x="0" y="-371475"/>
              <a:ext cx="24383998" cy="10714949"/>
            </a:xfrm>
            <a:prstGeom prst="rect">
              <a:avLst/>
            </a:prstGeom>
          </p:spPr>
          <p:txBody>
            <a:bodyPr lIns="0" tIns="0" rIns="0" bIns="0" rtlCol="0" anchor="t"/>
            <a:lstStyle/>
            <a:p>
              <a:pPr marL="868680" lvl="1" indent="-434340" algn="l">
                <a:lnSpc>
                  <a:spcPts val="8640"/>
                </a:lnSpc>
                <a:buAutoNum type="arabicPeriod"/>
              </a:pPr>
              <a:r>
                <a:rPr lang="en-US" sz="4800">
                  <a:solidFill>
                    <a:srgbClr val="000000"/>
                  </a:solidFill>
                  <a:latin typeface="Arial"/>
                  <a:ea typeface="Arial"/>
                  <a:cs typeface="Arial"/>
                  <a:sym typeface="Arial"/>
                </a:rPr>
                <a:t>Corrections for Suggestions from Review-1(Last)</a:t>
              </a:r>
            </a:p>
            <a:p>
              <a:pPr marL="868680" lvl="1" indent="-434340" algn="l">
                <a:lnSpc>
                  <a:spcPts val="8640"/>
                </a:lnSpc>
              </a:pPr>
              <a:r>
                <a:rPr lang="en-US" sz="4800">
                  <a:solidFill>
                    <a:srgbClr val="000000"/>
                  </a:solidFill>
                  <a:latin typeface="Arial"/>
                  <a:ea typeface="Arial"/>
                  <a:cs typeface="Arial"/>
                  <a:sym typeface="Arial"/>
                </a:rPr>
                <a:t>2. Literature Review</a:t>
              </a:r>
            </a:p>
            <a:p>
              <a:pPr marL="868680" lvl="1" indent="-434340" algn="l">
                <a:lnSpc>
                  <a:spcPts val="8640"/>
                </a:lnSpc>
              </a:pPr>
              <a:r>
                <a:rPr lang="en-US" sz="4800">
                  <a:solidFill>
                    <a:srgbClr val="000000"/>
                  </a:solidFill>
                  <a:latin typeface="Arial"/>
                  <a:ea typeface="Arial"/>
                  <a:cs typeface="Arial"/>
                  <a:sym typeface="Arial"/>
                </a:rPr>
                <a:t>3. Project Design </a:t>
              </a:r>
            </a:p>
            <a:p>
              <a:pPr marL="868680" lvl="1" indent="-434340" algn="l">
                <a:lnSpc>
                  <a:spcPts val="8640"/>
                </a:lnSpc>
              </a:pPr>
              <a:r>
                <a:rPr lang="en-US" sz="4800">
                  <a:solidFill>
                    <a:srgbClr val="000000"/>
                  </a:solidFill>
                  <a:latin typeface="Arial"/>
                  <a:ea typeface="Arial"/>
                  <a:cs typeface="Arial"/>
                  <a:sym typeface="Arial"/>
                </a:rPr>
                <a:t>4. Component selection</a:t>
              </a:r>
            </a:p>
            <a:p>
              <a:pPr marL="868680" lvl="1" indent="-434340" algn="l">
                <a:lnSpc>
                  <a:spcPts val="8640"/>
                </a:lnSpc>
              </a:pPr>
              <a:r>
                <a:rPr lang="en-US" sz="4800">
                  <a:solidFill>
                    <a:srgbClr val="000000"/>
                  </a:solidFill>
                  <a:latin typeface="Arial"/>
                  <a:ea typeface="Arial"/>
                  <a:cs typeface="Arial"/>
                  <a:sym typeface="Arial"/>
                </a:rPr>
                <a:t>5. Circuit Diagram</a:t>
              </a:r>
            </a:p>
            <a:p>
              <a:pPr marL="868680" lvl="1" indent="-434340" algn="l">
                <a:lnSpc>
                  <a:spcPts val="8640"/>
                </a:lnSpc>
              </a:pPr>
              <a:r>
                <a:rPr lang="en-US" sz="4800">
                  <a:solidFill>
                    <a:srgbClr val="000000"/>
                  </a:solidFill>
                  <a:latin typeface="Arial"/>
                  <a:ea typeface="Arial"/>
                  <a:cs typeface="Arial"/>
                  <a:sym typeface="Arial"/>
                </a:rPr>
                <a:t>6. Circuit Simulation</a:t>
              </a:r>
            </a:p>
            <a:p>
              <a:pPr marL="868680" lvl="1" indent="-434340" algn="l">
                <a:lnSpc>
                  <a:spcPts val="8640"/>
                </a:lnSpc>
              </a:pPr>
              <a:r>
                <a:rPr lang="en-US" sz="4800">
                  <a:solidFill>
                    <a:srgbClr val="000000"/>
                  </a:solidFill>
                  <a:latin typeface="Arial"/>
                  <a:ea typeface="Arial"/>
                  <a:cs typeface="Arial"/>
                  <a:sym typeface="Arial"/>
                </a:rPr>
                <a:t>7. System test parameters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FF2CC"/>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Idea of project</a:t>
              </a:r>
            </a:p>
          </p:txBody>
        </p:sp>
      </p:grpSp>
      <p:grpSp>
        <p:nvGrpSpPr>
          <p:cNvPr id="5" name="Group 5"/>
          <p:cNvGrpSpPr/>
          <p:nvPr/>
        </p:nvGrpSpPr>
        <p:grpSpPr>
          <a:xfrm>
            <a:off x="8014446" y="2000430"/>
            <a:ext cx="9775116" cy="10479792"/>
            <a:chOff x="0" y="0"/>
            <a:chExt cx="13033488" cy="13973056"/>
          </a:xfrm>
        </p:grpSpPr>
        <p:sp>
          <p:nvSpPr>
            <p:cNvPr id="6" name="Freeform 6"/>
            <p:cNvSpPr/>
            <p:nvPr/>
          </p:nvSpPr>
          <p:spPr>
            <a:xfrm>
              <a:off x="0" y="0"/>
              <a:ext cx="13033488" cy="13973056"/>
            </a:xfrm>
            <a:custGeom>
              <a:avLst/>
              <a:gdLst/>
              <a:ahLst/>
              <a:cxnLst/>
              <a:rect l="l" t="t" r="r" b="b"/>
              <a:pathLst>
                <a:path w="13033488" h="13973056">
                  <a:moveTo>
                    <a:pt x="0" y="0"/>
                  </a:moveTo>
                  <a:lnTo>
                    <a:pt x="13033488" y="0"/>
                  </a:lnTo>
                  <a:lnTo>
                    <a:pt x="13033488" y="13973056"/>
                  </a:lnTo>
                  <a:lnTo>
                    <a:pt x="0" y="13973056"/>
                  </a:lnTo>
                  <a:close/>
                </a:path>
              </a:pathLst>
            </a:custGeom>
            <a:solidFill>
              <a:srgbClr val="000000">
                <a:alpha val="0"/>
              </a:srgbClr>
            </a:solidFill>
          </p:spPr>
        </p:sp>
        <p:sp>
          <p:nvSpPr>
            <p:cNvPr id="7" name="TextBox 7"/>
            <p:cNvSpPr txBox="1"/>
            <p:nvPr/>
          </p:nvSpPr>
          <p:spPr>
            <a:xfrm>
              <a:off x="0" y="-85725"/>
              <a:ext cx="13033488" cy="14058781"/>
            </a:xfrm>
            <a:prstGeom prst="rect">
              <a:avLst/>
            </a:prstGeom>
          </p:spPr>
          <p:txBody>
            <a:bodyPr lIns="0" tIns="0" rIns="0" bIns="0" rtlCol="0" anchor="t"/>
            <a:lstStyle/>
            <a:p>
              <a:pPr algn="l">
                <a:lnSpc>
                  <a:spcPts val="5759"/>
                </a:lnSpc>
              </a:pPr>
              <a:r>
                <a:rPr lang="en-US" sz="4800">
                  <a:solidFill>
                    <a:srgbClr val="000000"/>
                  </a:solidFill>
                  <a:latin typeface="Calibri (MS)"/>
                  <a:ea typeface="Calibri (MS)"/>
                  <a:cs typeface="Calibri (MS)"/>
                  <a:sym typeface="Calibri (MS)"/>
                </a:rPr>
                <a:t>The idea of the project is to use AI , Speech recognition and NLP technology to make a system that engages children in interactive learning process through various games and educational content . This system helps to reduce the screen time of children and encourages children to continue exploring and learning.</a:t>
              </a:r>
            </a:p>
            <a:p>
              <a:pPr algn="l">
                <a:lnSpc>
                  <a:spcPts val="5759"/>
                </a:lnSpc>
              </a:pPr>
              <a:endParaRPr lang="en-US" sz="4800">
                <a:solidFill>
                  <a:srgbClr val="000000"/>
                </a:solidFill>
                <a:latin typeface="Calibri (MS)"/>
                <a:ea typeface="Calibri (MS)"/>
                <a:cs typeface="Calibri (MS)"/>
                <a:sym typeface="Calibri (MS)"/>
              </a:endParaRPr>
            </a:p>
            <a:p>
              <a:pPr algn="l">
                <a:lnSpc>
                  <a:spcPts val="5759"/>
                </a:lnSpc>
              </a:pPr>
              <a:endParaRPr lang="en-US" sz="4800">
                <a:solidFill>
                  <a:srgbClr val="000000"/>
                </a:solidFill>
                <a:latin typeface="Calibri (MS)"/>
                <a:ea typeface="Calibri (MS)"/>
                <a:cs typeface="Calibri (MS)"/>
                <a:sym typeface="Calibri (MS)"/>
              </a:endParaRPr>
            </a:p>
            <a:p>
              <a:pPr algn="l">
                <a:lnSpc>
                  <a:spcPts val="5759"/>
                </a:lnSpc>
              </a:pPr>
              <a:endParaRPr lang="en-US" sz="4800">
                <a:solidFill>
                  <a:srgbClr val="000000"/>
                </a:solidFill>
                <a:latin typeface="Calibri (MS)"/>
                <a:ea typeface="Calibri (MS)"/>
                <a:cs typeface="Calibri (MS)"/>
                <a:sym typeface="Calibri (MS)"/>
              </a:endParaRPr>
            </a:p>
            <a:p>
              <a:pPr algn="l">
                <a:lnSpc>
                  <a:spcPts val="5759"/>
                </a:lnSpc>
              </a:pPr>
              <a:endParaRPr lang="en-US" sz="4800">
                <a:solidFill>
                  <a:srgbClr val="000000"/>
                </a:solidFill>
                <a:latin typeface="Calibri (MS)"/>
                <a:ea typeface="Calibri (MS)"/>
                <a:cs typeface="Calibri (MS)"/>
                <a:sym typeface="Calibri (MS)"/>
              </a:endParaRPr>
            </a:p>
          </p:txBody>
        </p:sp>
      </p:grpSp>
      <p:sp>
        <p:nvSpPr>
          <p:cNvPr id="8" name="Freeform 8"/>
          <p:cNvSpPr/>
          <p:nvPr/>
        </p:nvSpPr>
        <p:spPr>
          <a:xfrm>
            <a:off x="1028700" y="2234916"/>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2"/>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23495"/>
            <a:chOff x="0" y="0"/>
            <a:chExt cx="24384000" cy="2031326"/>
          </a:xfrm>
        </p:grpSpPr>
        <p:sp>
          <p:nvSpPr>
            <p:cNvPr id="3" name="Freeform 3"/>
            <p:cNvSpPr/>
            <p:nvPr/>
          </p:nvSpPr>
          <p:spPr>
            <a:xfrm>
              <a:off x="0" y="0"/>
              <a:ext cx="24384000" cy="2031365"/>
            </a:xfrm>
            <a:custGeom>
              <a:avLst/>
              <a:gdLst/>
              <a:ahLst/>
              <a:cxnLst/>
              <a:rect l="l" t="t" r="r" b="b"/>
              <a:pathLst>
                <a:path w="24384000" h="2031365">
                  <a:moveTo>
                    <a:pt x="0" y="0"/>
                  </a:moveTo>
                  <a:lnTo>
                    <a:pt x="24384000" y="0"/>
                  </a:lnTo>
                  <a:lnTo>
                    <a:pt x="24384000" y="2031365"/>
                  </a:lnTo>
                  <a:lnTo>
                    <a:pt x="0" y="2031365"/>
                  </a:lnTo>
                  <a:close/>
                </a:path>
              </a:pathLst>
            </a:custGeom>
            <a:solidFill>
              <a:srgbClr val="FFF2CC"/>
            </a:solidFill>
          </p:spPr>
        </p:sp>
        <p:sp>
          <p:nvSpPr>
            <p:cNvPr id="4" name="TextBox 4"/>
            <p:cNvSpPr txBox="1"/>
            <p:nvPr/>
          </p:nvSpPr>
          <p:spPr>
            <a:xfrm>
              <a:off x="0" y="-38100"/>
              <a:ext cx="24384000" cy="2069426"/>
            </a:xfrm>
            <a:prstGeom prst="rect">
              <a:avLst/>
            </a:prstGeom>
          </p:spPr>
          <p:txBody>
            <a:bodyPr lIns="50800" tIns="50800" rIns="50800" bIns="50800" rtlCol="0" anchor="t"/>
            <a:lstStyle/>
            <a:p>
              <a:pPr algn="ctr">
                <a:lnSpc>
                  <a:spcPts val="10800"/>
                </a:lnSpc>
              </a:pPr>
              <a:r>
                <a:rPr lang="en-US" sz="9000" b="1">
                  <a:solidFill>
                    <a:srgbClr val="000000"/>
                  </a:solidFill>
                  <a:latin typeface="Arimo Bold"/>
                  <a:ea typeface="Arimo Bold"/>
                  <a:cs typeface="Arimo Bold"/>
                  <a:sym typeface="Arimo Bold"/>
                </a:rPr>
                <a:t>Problem Statement</a:t>
              </a:r>
            </a:p>
          </p:txBody>
        </p:sp>
      </p:grpSp>
      <p:grpSp>
        <p:nvGrpSpPr>
          <p:cNvPr id="5" name="Group 5"/>
          <p:cNvGrpSpPr/>
          <p:nvPr/>
        </p:nvGrpSpPr>
        <p:grpSpPr>
          <a:xfrm>
            <a:off x="702116" y="3504160"/>
            <a:ext cx="17172993" cy="6278642"/>
            <a:chOff x="0" y="0"/>
            <a:chExt cx="22897324" cy="8371522"/>
          </a:xfrm>
        </p:grpSpPr>
        <p:sp>
          <p:nvSpPr>
            <p:cNvPr id="6" name="Freeform 6"/>
            <p:cNvSpPr/>
            <p:nvPr/>
          </p:nvSpPr>
          <p:spPr>
            <a:xfrm>
              <a:off x="0" y="0"/>
              <a:ext cx="22897323" cy="8371522"/>
            </a:xfrm>
            <a:custGeom>
              <a:avLst/>
              <a:gdLst/>
              <a:ahLst/>
              <a:cxnLst/>
              <a:rect l="l" t="t" r="r" b="b"/>
              <a:pathLst>
                <a:path w="22897323" h="8371522">
                  <a:moveTo>
                    <a:pt x="0" y="0"/>
                  </a:moveTo>
                  <a:lnTo>
                    <a:pt x="22897323" y="0"/>
                  </a:lnTo>
                  <a:lnTo>
                    <a:pt x="22897323" y="8371522"/>
                  </a:lnTo>
                  <a:lnTo>
                    <a:pt x="0" y="8371522"/>
                  </a:lnTo>
                  <a:close/>
                </a:path>
              </a:pathLst>
            </a:custGeom>
            <a:solidFill>
              <a:srgbClr val="000000">
                <a:alpha val="0"/>
              </a:srgbClr>
            </a:solidFill>
          </p:spPr>
        </p:sp>
        <p:sp>
          <p:nvSpPr>
            <p:cNvPr id="7" name="TextBox 7"/>
            <p:cNvSpPr txBox="1"/>
            <p:nvPr/>
          </p:nvSpPr>
          <p:spPr>
            <a:xfrm>
              <a:off x="0" y="-142875"/>
              <a:ext cx="22897324" cy="8514397"/>
            </a:xfrm>
            <a:prstGeom prst="rect">
              <a:avLst/>
            </a:prstGeom>
          </p:spPr>
          <p:txBody>
            <a:bodyPr lIns="0" tIns="0" rIns="0" bIns="0" rtlCol="0" anchor="t"/>
            <a:lstStyle/>
            <a:p>
              <a:pPr algn="l">
                <a:lnSpc>
                  <a:spcPts val="7920"/>
                </a:lnSpc>
              </a:pPr>
              <a:r>
                <a:rPr lang="en-US" sz="6600">
                  <a:solidFill>
                    <a:srgbClr val="000000"/>
                  </a:solidFill>
                  <a:latin typeface="Calibri (MS)"/>
                  <a:ea typeface="Calibri (MS)"/>
                  <a:cs typeface="Calibri (MS)"/>
                  <a:sym typeface="Calibri (MS)"/>
                </a:rPr>
                <a:t>To generate a interactive learning system for kids </a:t>
              </a:r>
            </a:p>
            <a:p>
              <a:pPr algn="l">
                <a:lnSpc>
                  <a:spcPts val="7920"/>
                </a:lnSpc>
              </a:pPr>
              <a:r>
                <a:rPr lang="en-US" sz="6600">
                  <a:solidFill>
                    <a:srgbClr val="000000"/>
                  </a:solidFill>
                  <a:latin typeface="Calibri (MS)"/>
                  <a:ea typeface="Calibri (MS)"/>
                  <a:cs typeface="Calibri (MS)"/>
                  <a:sym typeface="Calibri (MS)"/>
                </a:rPr>
                <a:t>using voice control technology.</a:t>
              </a:r>
            </a:p>
            <a:p>
              <a:pPr algn="just">
                <a:lnSpc>
                  <a:spcPts val="7920"/>
                </a:lnSpc>
              </a:pPr>
              <a:endParaRPr lang="en-US" sz="6600">
                <a:solidFill>
                  <a:srgbClr val="000000"/>
                </a:solidFill>
                <a:latin typeface="Calibri (MS)"/>
                <a:ea typeface="Calibri (MS)"/>
                <a:cs typeface="Calibri (MS)"/>
                <a:sym typeface="Calibri (MS)"/>
              </a:endParaRPr>
            </a:p>
            <a:p>
              <a:pPr algn="just">
                <a:lnSpc>
                  <a:spcPts val="7920"/>
                </a:lnSpc>
              </a:pPr>
              <a:endParaRPr lang="en-US" sz="6600">
                <a:solidFill>
                  <a:srgbClr val="000000"/>
                </a:solidFill>
                <a:latin typeface="Calibri (MS)"/>
                <a:ea typeface="Calibri (MS)"/>
                <a:cs typeface="Calibri (MS)"/>
                <a:sym typeface="Calibri (MS)"/>
              </a:endParaRPr>
            </a:p>
            <a:p>
              <a:pPr algn="just">
                <a:lnSpc>
                  <a:spcPts val="7920"/>
                </a:lnSpc>
              </a:pPr>
              <a:endParaRPr lang="en-US" sz="6600">
                <a:solidFill>
                  <a:srgbClr val="000000"/>
                </a:solidFill>
                <a:latin typeface="Calibri (MS)"/>
                <a:ea typeface="Calibri (MS)"/>
                <a:cs typeface="Calibri (MS)"/>
                <a:sym typeface="Calibri (MS)"/>
              </a:endParaRPr>
            </a:p>
            <a:p>
              <a:pPr algn="l">
                <a:lnSpc>
                  <a:spcPts val="7920"/>
                </a:lnSpc>
              </a:pPr>
              <a:endParaRPr lang="en-US" sz="6600">
                <a:solidFill>
                  <a:srgbClr val="000000"/>
                </a:solidFill>
                <a:latin typeface="Calibri (MS)"/>
                <a:ea typeface="Calibri (MS)"/>
                <a:cs typeface="Calibri (MS)"/>
                <a:sym typeface="Calibri (MS)"/>
              </a:endParaRPr>
            </a:p>
            <a:p>
              <a:pPr algn="l">
                <a:lnSpc>
                  <a:spcPts val="7920"/>
                </a:lnSpc>
              </a:pPr>
              <a:endParaRPr lang="en-US" sz="6600">
                <a:solidFill>
                  <a:srgbClr val="000000"/>
                </a:solidFill>
                <a:latin typeface="Calibri (MS)"/>
                <a:ea typeface="Calibri (MS)"/>
                <a:cs typeface="Calibri (MS)"/>
                <a:sym typeface="Calibri (MS)"/>
              </a:endParaRPr>
            </a:p>
            <a:p>
              <a:pPr algn="l">
                <a:lnSpc>
                  <a:spcPts val="7920"/>
                </a:lnSpc>
              </a:pPr>
              <a:endParaRPr lang="en-US" sz="6600">
                <a:solidFill>
                  <a:srgbClr val="000000"/>
                </a:solidFill>
                <a:latin typeface="Calibri (MS)"/>
                <a:ea typeface="Calibri (MS)"/>
                <a:cs typeface="Calibri (MS)"/>
                <a:sym typeface="Calibri (MS)"/>
              </a:endParaRPr>
            </a:p>
            <a:p>
              <a:pPr algn="l">
                <a:lnSpc>
                  <a:spcPts val="7920"/>
                </a:lnSpc>
              </a:pPr>
              <a:endParaRPr lang="en-US" sz="6600">
                <a:solidFill>
                  <a:srgbClr val="000000"/>
                </a:solidFill>
                <a:latin typeface="Calibri (MS)"/>
                <a:ea typeface="Calibri (MS)"/>
                <a:cs typeface="Calibri (MS)"/>
                <a:sym typeface="Calibri (MS)"/>
              </a:endParaRPr>
            </a:p>
            <a:p>
              <a:pPr algn="l">
                <a:lnSpc>
                  <a:spcPts val="7920"/>
                </a:lnSpc>
              </a:pPr>
              <a:endParaRPr lang="en-US" sz="6600">
                <a:solidFill>
                  <a:srgbClr val="000000"/>
                </a:solidFill>
                <a:latin typeface="Calibri (MS)"/>
                <a:ea typeface="Calibri (MS)"/>
                <a:cs typeface="Calibri (MS)"/>
                <a:sym typeface="Calibri (M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8CBAD"/>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Proposed Title</a:t>
              </a:r>
            </a:p>
          </p:txBody>
        </p:sp>
      </p:grpSp>
      <p:grpSp>
        <p:nvGrpSpPr>
          <p:cNvPr id="5" name="Group 5"/>
          <p:cNvGrpSpPr/>
          <p:nvPr/>
        </p:nvGrpSpPr>
        <p:grpSpPr>
          <a:xfrm>
            <a:off x="111968" y="1385598"/>
            <a:ext cx="18488608" cy="9233296"/>
            <a:chOff x="0" y="0"/>
            <a:chExt cx="24651478" cy="12311062"/>
          </a:xfrm>
        </p:grpSpPr>
        <p:sp>
          <p:nvSpPr>
            <p:cNvPr id="6" name="Freeform 6"/>
            <p:cNvSpPr/>
            <p:nvPr/>
          </p:nvSpPr>
          <p:spPr>
            <a:xfrm>
              <a:off x="0" y="0"/>
              <a:ext cx="24651478" cy="12311062"/>
            </a:xfrm>
            <a:custGeom>
              <a:avLst/>
              <a:gdLst/>
              <a:ahLst/>
              <a:cxnLst/>
              <a:rect l="l" t="t" r="r" b="b"/>
              <a:pathLst>
                <a:path w="24651478" h="12311062">
                  <a:moveTo>
                    <a:pt x="0" y="0"/>
                  </a:moveTo>
                  <a:lnTo>
                    <a:pt x="24651478" y="0"/>
                  </a:lnTo>
                  <a:lnTo>
                    <a:pt x="24651478" y="12311062"/>
                  </a:lnTo>
                  <a:lnTo>
                    <a:pt x="0" y="12311062"/>
                  </a:lnTo>
                  <a:close/>
                </a:path>
              </a:pathLst>
            </a:custGeom>
            <a:solidFill>
              <a:srgbClr val="000000">
                <a:alpha val="0"/>
              </a:srgbClr>
            </a:solidFill>
          </p:spPr>
        </p:sp>
        <p:sp>
          <p:nvSpPr>
            <p:cNvPr id="7" name="TextBox 7"/>
            <p:cNvSpPr txBox="1"/>
            <p:nvPr/>
          </p:nvSpPr>
          <p:spPr>
            <a:xfrm>
              <a:off x="0" y="-123825"/>
              <a:ext cx="24651478" cy="12434887"/>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Voice Control Interactive Learning System for Children</a:t>
              </a:r>
            </a:p>
            <a:p>
              <a:pPr algn="l">
                <a:lnSpc>
                  <a:spcPts val="4320"/>
                </a:lnSpc>
              </a:pPr>
              <a:endParaRPr lang="en-US" sz="6000">
                <a:solidFill>
                  <a:srgbClr val="000000"/>
                </a:solidFill>
                <a:latin typeface="Calibri (MS)"/>
                <a:ea typeface="Calibri (MS)"/>
                <a:cs typeface="Calibri (MS)"/>
                <a:sym typeface="Calibri (MS)"/>
              </a:endParaRPr>
            </a:p>
            <a:p>
              <a:pPr marL="651510" lvl="1" indent="-325755" algn="l">
                <a:lnSpc>
                  <a:spcPts val="4320"/>
                </a:lnSpc>
                <a:buFont typeface="Arial"/>
                <a:buChar char="•"/>
              </a:pPr>
              <a:r>
                <a:rPr lang="en-US" sz="3600" b="1">
                  <a:solidFill>
                    <a:srgbClr val="000000"/>
                  </a:solidFill>
                  <a:latin typeface="Calibri (MS) Bold"/>
                  <a:ea typeface="Calibri (MS) Bold"/>
                  <a:cs typeface="Calibri (MS) Bold"/>
                  <a:sym typeface="Calibri (MS) Bold"/>
                </a:rPr>
                <a:t>Voice Control </a:t>
              </a:r>
              <a:r>
                <a:rPr lang="en-US" sz="3600">
                  <a:solidFill>
                    <a:srgbClr val="000000"/>
                  </a:solidFill>
                  <a:latin typeface="Calibri (MS)"/>
                  <a:ea typeface="Calibri (MS)"/>
                  <a:cs typeface="Calibri (MS)"/>
                  <a:sym typeface="Calibri (MS)"/>
                </a:rPr>
                <a:t>: This indicates that the system relies on speech recognition technology .</a:t>
              </a:r>
            </a:p>
            <a:p>
              <a:pPr marL="651510" lvl="1" indent="-325755" algn="l">
                <a:lnSpc>
                  <a:spcPts val="4320"/>
                </a:lnSpc>
              </a:pPr>
              <a:r>
                <a:rPr lang="en-US" sz="3600">
                  <a:solidFill>
                    <a:srgbClr val="000000"/>
                  </a:solidFill>
                  <a:latin typeface="Calibri (MS)"/>
                  <a:ea typeface="Calibri (MS)"/>
                  <a:cs typeface="Calibri (MS)"/>
                  <a:sym typeface="Calibri (MS)"/>
                </a:rPr>
                <a:t>    Children will interact with the system primarily through spoken commands . </a:t>
              </a:r>
            </a:p>
            <a:p>
              <a:pPr marL="651510" lvl="1" indent="-325755" algn="l">
                <a:lnSpc>
                  <a:spcPts val="4320"/>
                </a:lnSpc>
              </a:pPr>
              <a:r>
                <a:rPr lang="en-US" sz="3600">
                  <a:solidFill>
                    <a:srgbClr val="000000"/>
                  </a:solidFill>
                  <a:latin typeface="Calibri (MS)"/>
                  <a:ea typeface="Calibri (MS)"/>
                  <a:cs typeface="Calibri (MS)"/>
                  <a:sym typeface="Calibri (MS)"/>
                </a:rPr>
                <a:t>    For this we are using TTS , STT  technologies and NLP techniques.</a:t>
              </a:r>
            </a:p>
            <a:p>
              <a:pPr marL="651510" lvl="1" indent="-325755" algn="l">
                <a:lnSpc>
                  <a:spcPts val="4320"/>
                </a:lnSpc>
              </a:pPr>
              <a:endParaRPr lang="en-US" sz="3600">
                <a:solidFill>
                  <a:srgbClr val="000000"/>
                </a:solidFill>
                <a:latin typeface="Calibri (MS)"/>
                <a:ea typeface="Calibri (MS)"/>
                <a:cs typeface="Calibri (MS)"/>
                <a:sym typeface="Calibri (MS)"/>
              </a:endParaRPr>
            </a:p>
            <a:p>
              <a:pPr marL="651510" lvl="1" indent="-325755" algn="l">
                <a:lnSpc>
                  <a:spcPts val="4320"/>
                </a:lnSpc>
                <a:buFont typeface="Arial"/>
                <a:buChar char="•"/>
              </a:pPr>
              <a:r>
                <a:rPr lang="en-US" sz="3600" b="1">
                  <a:solidFill>
                    <a:srgbClr val="000000"/>
                  </a:solidFill>
                  <a:latin typeface="Calibri (MS) Bold"/>
                  <a:ea typeface="Calibri (MS) Bold"/>
                  <a:cs typeface="Calibri (MS) Bold"/>
                  <a:sym typeface="Calibri (MS) Bold"/>
                </a:rPr>
                <a:t>Interactive Learning System </a:t>
              </a:r>
              <a:r>
                <a:rPr lang="en-US" sz="3600">
                  <a:solidFill>
                    <a:srgbClr val="000000"/>
                  </a:solidFill>
                  <a:latin typeface="Calibri (MS)"/>
                  <a:ea typeface="Calibri (MS)"/>
                  <a:cs typeface="Calibri (MS)"/>
                  <a:sym typeface="Calibri (MS)"/>
                </a:rPr>
                <a:t>: The system will deliver educational content in an interactive manner possibly through games and quizzes . This is the tool that provides learning with fun platform.</a:t>
              </a:r>
            </a:p>
            <a:p>
              <a:pPr marL="651510" lvl="1" indent="-325755" algn="l">
                <a:lnSpc>
                  <a:spcPts val="4320"/>
                </a:lnSpc>
              </a:pPr>
              <a:endParaRPr lang="en-US" sz="3600">
                <a:solidFill>
                  <a:srgbClr val="000000"/>
                </a:solidFill>
                <a:latin typeface="Calibri (MS)"/>
                <a:ea typeface="Calibri (MS)"/>
                <a:cs typeface="Calibri (MS)"/>
                <a:sym typeface="Calibri (MS)"/>
              </a:endParaRPr>
            </a:p>
            <a:p>
              <a:pPr marL="651510" lvl="1" indent="-325755" algn="l">
                <a:lnSpc>
                  <a:spcPts val="4320"/>
                </a:lnSpc>
                <a:buFont typeface="Arial"/>
                <a:buChar char="•"/>
              </a:pPr>
              <a:r>
                <a:rPr lang="en-US" sz="3600" b="1">
                  <a:solidFill>
                    <a:srgbClr val="000000"/>
                  </a:solidFill>
                  <a:latin typeface="Calibri (MS) Bold"/>
                  <a:ea typeface="Calibri (MS) Bold"/>
                  <a:cs typeface="Calibri (MS) Bold"/>
                  <a:sym typeface="Calibri (MS) Bold"/>
                </a:rPr>
                <a:t>For Children </a:t>
              </a:r>
              <a:r>
                <a:rPr lang="en-US" sz="3600">
                  <a:solidFill>
                    <a:srgbClr val="000000"/>
                  </a:solidFill>
                  <a:latin typeface="Calibri (MS)"/>
                  <a:ea typeface="Calibri (MS)"/>
                  <a:cs typeface="Calibri (MS)"/>
                  <a:sym typeface="Calibri (MS)"/>
                </a:rPr>
                <a:t>: This highlights that the system is designed for engagement of children. The content and interactions will be age-appropriate and designed to be accessible and enjoyable for children.</a:t>
              </a:r>
            </a:p>
            <a:p>
              <a:pPr marL="651510" lvl="1" indent="-325755" algn="l">
                <a:lnSpc>
                  <a:spcPts val="4320"/>
                </a:lnSpc>
              </a:pPr>
              <a:endParaRPr lang="en-US" sz="3600">
                <a:solidFill>
                  <a:srgbClr val="000000"/>
                </a:solidFill>
                <a:latin typeface="Calibri (MS)"/>
                <a:ea typeface="Calibri (MS)"/>
                <a:cs typeface="Calibri (MS)"/>
                <a:sym typeface="Calibri (MS)"/>
              </a:endParaRPr>
            </a:p>
            <a:p>
              <a:pPr marL="651510" lvl="1" indent="-325755" algn="l">
                <a:lnSpc>
                  <a:spcPts val="4320"/>
                </a:lnSpc>
              </a:pPr>
              <a:endParaRPr lang="en-US" sz="3600">
                <a:solidFill>
                  <a:srgbClr val="000000"/>
                </a:solidFill>
                <a:latin typeface="Calibri (MS)"/>
                <a:ea typeface="Calibri (MS)"/>
                <a:cs typeface="Calibri (MS)"/>
                <a:sym typeface="Calibri (MS)"/>
              </a:endParaRPr>
            </a:p>
            <a:p>
              <a:pPr marL="651510" lvl="1" indent="-325755" algn="l">
                <a:lnSpc>
                  <a:spcPts val="4320"/>
                </a:lnSpc>
              </a:pPr>
              <a:endParaRPr lang="en-US" sz="3600">
                <a:solidFill>
                  <a:srgbClr val="000000"/>
                </a:solidFill>
                <a:latin typeface="Calibri (MS)"/>
                <a:ea typeface="Calibri (MS)"/>
                <a:cs typeface="Calibri (MS)"/>
                <a:sym typeface="Calibri (M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DAE3F3"/>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Feasibility Check</a:t>
              </a:r>
            </a:p>
          </p:txBody>
        </p:sp>
      </p:grpSp>
      <p:grpSp>
        <p:nvGrpSpPr>
          <p:cNvPr id="5" name="Group 5"/>
          <p:cNvGrpSpPr/>
          <p:nvPr/>
        </p:nvGrpSpPr>
        <p:grpSpPr>
          <a:xfrm>
            <a:off x="1220130" y="2081668"/>
            <a:ext cx="9631135" cy="7617470"/>
            <a:chOff x="0" y="0"/>
            <a:chExt cx="12841514" cy="10156626"/>
          </a:xfrm>
        </p:grpSpPr>
        <p:sp>
          <p:nvSpPr>
            <p:cNvPr id="6" name="Freeform 6"/>
            <p:cNvSpPr/>
            <p:nvPr/>
          </p:nvSpPr>
          <p:spPr>
            <a:xfrm>
              <a:off x="0" y="0"/>
              <a:ext cx="12841514" cy="10156626"/>
            </a:xfrm>
            <a:custGeom>
              <a:avLst/>
              <a:gdLst/>
              <a:ahLst/>
              <a:cxnLst/>
              <a:rect l="l" t="t" r="r" b="b"/>
              <a:pathLst>
                <a:path w="12841514" h="10156626">
                  <a:moveTo>
                    <a:pt x="0" y="0"/>
                  </a:moveTo>
                  <a:lnTo>
                    <a:pt x="12841514" y="0"/>
                  </a:lnTo>
                  <a:lnTo>
                    <a:pt x="12841514" y="10156626"/>
                  </a:lnTo>
                  <a:lnTo>
                    <a:pt x="0" y="10156626"/>
                  </a:lnTo>
                  <a:close/>
                </a:path>
              </a:pathLst>
            </a:custGeom>
            <a:solidFill>
              <a:srgbClr val="000000">
                <a:alpha val="0"/>
              </a:srgbClr>
            </a:solidFill>
          </p:spPr>
        </p:sp>
        <p:sp>
          <p:nvSpPr>
            <p:cNvPr id="7" name="TextBox 7"/>
            <p:cNvSpPr txBox="1"/>
            <p:nvPr/>
          </p:nvSpPr>
          <p:spPr>
            <a:xfrm>
              <a:off x="0" y="-114300"/>
              <a:ext cx="12841514" cy="10270926"/>
            </a:xfrm>
            <a:prstGeom prst="rect">
              <a:avLst/>
            </a:prstGeom>
          </p:spPr>
          <p:txBody>
            <a:bodyPr lIns="0" tIns="0" rIns="0" bIns="0" rtlCol="0" anchor="t"/>
            <a:lstStyle/>
            <a:p>
              <a:pPr algn="l">
                <a:lnSpc>
                  <a:spcPts val="6120"/>
                </a:lnSpc>
              </a:pPr>
              <a:r>
                <a:rPr lang="en-US" sz="5100">
                  <a:solidFill>
                    <a:srgbClr val="000000"/>
                  </a:solidFill>
                  <a:latin typeface="Calibri (MS)"/>
                  <a:ea typeface="Calibri (MS)"/>
                  <a:cs typeface="Calibri (MS)"/>
                  <a:sym typeface="Calibri (MS)"/>
                </a:rPr>
                <a:t>We all have seen the EMO robot who works on the voice control system . Similarly by using the voice recognition technology along with TTS , STT and NLP we will achieve this idea . Successful implementation will depends on effective integration of these technologies.</a:t>
              </a:r>
            </a:p>
          </p:txBody>
        </p:sp>
      </p:grpSp>
      <p:sp>
        <p:nvSpPr>
          <p:cNvPr id="8" name="Freeform 8" descr="robot emo Gran venta OFF-59%"/>
          <p:cNvSpPr/>
          <p:nvPr/>
        </p:nvSpPr>
        <p:spPr>
          <a:xfrm>
            <a:off x="10851266" y="3200732"/>
            <a:ext cx="6772275" cy="3800476"/>
          </a:xfrm>
          <a:custGeom>
            <a:avLst/>
            <a:gdLst/>
            <a:ahLst/>
            <a:cxnLst/>
            <a:rect l="l" t="t" r="r" b="b"/>
            <a:pathLst>
              <a:path w="6772275" h="3800476">
                <a:moveTo>
                  <a:pt x="0" y="0"/>
                </a:moveTo>
                <a:lnTo>
                  <a:pt x="6772274" y="0"/>
                </a:lnTo>
                <a:lnTo>
                  <a:pt x="6772274" y="3800476"/>
                </a:lnTo>
                <a:lnTo>
                  <a:pt x="0" y="3800476"/>
                </a:lnTo>
                <a:lnTo>
                  <a:pt x="0" y="0"/>
                </a:lnTo>
                <a:close/>
              </a:path>
            </a:pathLst>
          </a:custGeom>
          <a:blipFill>
            <a:blip r:embed="rId2"/>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DBDBDB"/>
            </a:solidFill>
          </p:spPr>
        </p:sp>
        <p:sp>
          <p:nvSpPr>
            <p:cNvPr id="4" name="Freeform 4"/>
            <p:cNvSpPr/>
            <p:nvPr/>
          </p:nvSpPr>
          <p:spPr>
            <a:xfrm>
              <a:off x="-1524" y="-1524"/>
              <a:ext cx="24387048" cy="1541907"/>
            </a:xfrm>
            <a:custGeom>
              <a:avLst/>
              <a:gdLst/>
              <a:ahLst/>
              <a:cxnLst/>
              <a:rect l="l" t="t" r="r" b="b"/>
              <a:pathLst>
                <a:path w="24387048" h="1541907">
                  <a:moveTo>
                    <a:pt x="1524" y="0"/>
                  </a:moveTo>
                  <a:lnTo>
                    <a:pt x="24385524" y="0"/>
                  </a:lnTo>
                  <a:cubicBezTo>
                    <a:pt x="24386414" y="0"/>
                    <a:pt x="24387048" y="762"/>
                    <a:pt x="24387048" y="1524"/>
                  </a:cubicBezTo>
                  <a:lnTo>
                    <a:pt x="24387048" y="1540383"/>
                  </a:lnTo>
                  <a:cubicBezTo>
                    <a:pt x="24387048" y="1541272"/>
                    <a:pt x="24386287" y="1541907"/>
                    <a:pt x="24385524" y="1541907"/>
                  </a:cubicBezTo>
                  <a:lnTo>
                    <a:pt x="1524" y="1541907"/>
                  </a:lnTo>
                  <a:cubicBezTo>
                    <a:pt x="635" y="1541907"/>
                    <a:pt x="0" y="1541145"/>
                    <a:pt x="0" y="1540383"/>
                  </a:cubicBezTo>
                  <a:lnTo>
                    <a:pt x="0" y="1524"/>
                  </a:lnTo>
                  <a:cubicBezTo>
                    <a:pt x="0" y="635"/>
                    <a:pt x="762" y="0"/>
                    <a:pt x="1524" y="0"/>
                  </a:cubicBezTo>
                  <a:moveTo>
                    <a:pt x="1524" y="3048"/>
                  </a:moveTo>
                  <a:lnTo>
                    <a:pt x="1524" y="1524"/>
                  </a:lnTo>
                  <a:lnTo>
                    <a:pt x="3048" y="1524"/>
                  </a:lnTo>
                  <a:lnTo>
                    <a:pt x="3048" y="1540383"/>
                  </a:lnTo>
                  <a:lnTo>
                    <a:pt x="1524" y="1540383"/>
                  </a:lnTo>
                  <a:lnTo>
                    <a:pt x="1524" y="1538859"/>
                  </a:lnTo>
                  <a:lnTo>
                    <a:pt x="24385524" y="1538859"/>
                  </a:lnTo>
                  <a:lnTo>
                    <a:pt x="24385524" y="1540383"/>
                  </a:lnTo>
                  <a:lnTo>
                    <a:pt x="24384000" y="1540383"/>
                  </a:lnTo>
                  <a:lnTo>
                    <a:pt x="24384000" y="1524"/>
                  </a:lnTo>
                  <a:lnTo>
                    <a:pt x="24385524" y="1524"/>
                  </a:lnTo>
                  <a:lnTo>
                    <a:pt x="24385524" y="3048"/>
                  </a:lnTo>
                  <a:lnTo>
                    <a:pt x="1524" y="3048"/>
                  </a:lnTo>
                  <a:close/>
                </a:path>
              </a:pathLst>
            </a:custGeom>
            <a:solidFill>
              <a:srgbClr val="FBE5D6"/>
            </a:solidFill>
          </p:spPr>
        </p:sp>
        <p:sp>
          <p:nvSpPr>
            <p:cNvPr id="5" name="TextBox 5"/>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Scope of Project [SY Sem III &amp; IV] </a:t>
              </a:r>
            </a:p>
          </p:txBody>
        </p:sp>
      </p:grpSp>
      <p:grpSp>
        <p:nvGrpSpPr>
          <p:cNvPr id="6" name="Group 6"/>
          <p:cNvGrpSpPr/>
          <p:nvPr/>
        </p:nvGrpSpPr>
        <p:grpSpPr>
          <a:xfrm>
            <a:off x="1081730" y="2149524"/>
            <a:ext cx="16124539" cy="6000266"/>
            <a:chOff x="0" y="0"/>
            <a:chExt cx="21499386" cy="8000355"/>
          </a:xfrm>
        </p:grpSpPr>
        <p:sp>
          <p:nvSpPr>
            <p:cNvPr id="7" name="Freeform 7"/>
            <p:cNvSpPr/>
            <p:nvPr/>
          </p:nvSpPr>
          <p:spPr>
            <a:xfrm>
              <a:off x="0" y="0"/>
              <a:ext cx="21499385" cy="8000355"/>
            </a:xfrm>
            <a:custGeom>
              <a:avLst/>
              <a:gdLst/>
              <a:ahLst/>
              <a:cxnLst/>
              <a:rect l="l" t="t" r="r" b="b"/>
              <a:pathLst>
                <a:path w="21499385" h="8000355">
                  <a:moveTo>
                    <a:pt x="0" y="0"/>
                  </a:moveTo>
                  <a:lnTo>
                    <a:pt x="21499385" y="0"/>
                  </a:lnTo>
                  <a:lnTo>
                    <a:pt x="21499385" y="8000355"/>
                  </a:lnTo>
                  <a:lnTo>
                    <a:pt x="0" y="8000355"/>
                  </a:lnTo>
                  <a:close/>
                </a:path>
              </a:pathLst>
            </a:custGeom>
            <a:solidFill>
              <a:srgbClr val="000000">
                <a:alpha val="0"/>
              </a:srgbClr>
            </a:solidFill>
          </p:spPr>
        </p:sp>
        <p:sp>
          <p:nvSpPr>
            <p:cNvPr id="8" name="TextBox 8"/>
            <p:cNvSpPr txBox="1"/>
            <p:nvPr/>
          </p:nvSpPr>
          <p:spPr>
            <a:xfrm>
              <a:off x="0" y="-114300"/>
              <a:ext cx="21499386" cy="8114655"/>
            </a:xfrm>
            <a:prstGeom prst="rect">
              <a:avLst/>
            </a:prstGeom>
          </p:spPr>
          <p:txBody>
            <a:bodyPr lIns="0" tIns="0" rIns="0" bIns="0" rtlCol="0" anchor="t"/>
            <a:lstStyle/>
            <a:p>
              <a:pPr marL="977265" lvl="1" indent="-488632" algn="l">
                <a:lnSpc>
                  <a:spcPts val="6480"/>
                </a:lnSpc>
                <a:buFont typeface="Arial"/>
                <a:buChar char="•"/>
              </a:pPr>
              <a:r>
                <a:rPr lang="en-US" sz="5400" b="1">
                  <a:solidFill>
                    <a:srgbClr val="000000"/>
                  </a:solidFill>
                  <a:latin typeface="Calibri (MS) Bold"/>
                  <a:ea typeface="Calibri (MS) Bold"/>
                  <a:cs typeface="Calibri (MS) Bold"/>
                  <a:sym typeface="Calibri (MS) Bold"/>
                </a:rPr>
                <a:t>SY Sem III</a:t>
              </a:r>
            </a:p>
            <a:p>
              <a:pPr marL="977265" lvl="1" indent="-488632" algn="l">
                <a:lnSpc>
                  <a:spcPts val="6480"/>
                </a:lnSpc>
              </a:pPr>
              <a:r>
                <a:rPr lang="en-US" sz="5400">
                  <a:solidFill>
                    <a:srgbClr val="000000"/>
                  </a:solidFill>
                  <a:latin typeface="Calibri (MS)"/>
                  <a:ea typeface="Calibri (MS)"/>
                  <a:cs typeface="Calibri (MS)"/>
                  <a:sym typeface="Calibri (MS)"/>
                </a:rPr>
                <a:t>Electronic circuit designing using VC02</a:t>
              </a:r>
              <a:r>
                <a:rPr lang="en-US" sz="5400" b="1">
                  <a:solidFill>
                    <a:srgbClr val="000000"/>
                  </a:solidFill>
                  <a:latin typeface="Calibri (MS) Bold"/>
                  <a:ea typeface="Calibri (MS) Bold"/>
                  <a:cs typeface="Calibri (MS) Bold"/>
                  <a:sym typeface="Calibri (MS) Bold"/>
                </a:rPr>
                <a:t>.</a:t>
              </a:r>
            </a:p>
            <a:p>
              <a:pPr marL="977265" lvl="1" indent="-488632" algn="l">
                <a:lnSpc>
                  <a:spcPts val="6480"/>
                </a:lnSpc>
              </a:pPr>
              <a:endParaRPr lang="en-US" sz="5400" b="1">
                <a:solidFill>
                  <a:srgbClr val="000000"/>
                </a:solidFill>
                <a:latin typeface="Calibri (MS) Bold"/>
                <a:ea typeface="Calibri (MS) Bold"/>
                <a:cs typeface="Calibri (MS) Bold"/>
                <a:sym typeface="Calibri (MS) Bold"/>
              </a:endParaRPr>
            </a:p>
            <a:p>
              <a:pPr marL="977265" lvl="1" indent="-488632" algn="l">
                <a:lnSpc>
                  <a:spcPts val="6480"/>
                </a:lnSpc>
                <a:buFont typeface="Arial"/>
                <a:buChar char="•"/>
              </a:pPr>
              <a:r>
                <a:rPr lang="en-US" sz="5400" b="1">
                  <a:solidFill>
                    <a:srgbClr val="000000"/>
                  </a:solidFill>
                  <a:latin typeface="Calibri (MS) Bold"/>
                  <a:ea typeface="Calibri (MS) Bold"/>
                  <a:cs typeface="Calibri (MS) Bold"/>
                  <a:sym typeface="Calibri (MS) Bold"/>
                </a:rPr>
                <a:t>SY Sem IV</a:t>
              </a:r>
            </a:p>
            <a:p>
              <a:pPr marL="977265" lvl="1" indent="-488632" algn="l">
                <a:lnSpc>
                  <a:spcPts val="6480"/>
                </a:lnSpc>
              </a:pPr>
              <a:r>
                <a:rPr lang="en-US" sz="5400">
                  <a:solidFill>
                    <a:srgbClr val="000000"/>
                  </a:solidFill>
                  <a:latin typeface="Calibri (MS)"/>
                  <a:ea typeface="Calibri (MS)"/>
                  <a:cs typeface="Calibri (MS)"/>
                  <a:sym typeface="Calibri (MS)"/>
                </a:rPr>
                <a:t>Gemini integration using ESP32, PCB implementation and 3D modelling.</a:t>
              </a:r>
            </a:p>
            <a:p>
              <a:pPr marL="977265" lvl="1" indent="-488632" algn="l">
                <a:lnSpc>
                  <a:spcPts val="6480"/>
                </a:lnSpc>
              </a:pPr>
              <a:endParaRPr lang="en-US" sz="5400">
                <a:solidFill>
                  <a:srgbClr val="000000"/>
                </a:solidFill>
                <a:latin typeface="Calibri (MS)"/>
                <a:ea typeface="Calibri (MS)"/>
                <a:cs typeface="Calibri (MS)"/>
                <a:sym typeface="Calibri (M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19709"/>
            <a:chOff x="0" y="0"/>
            <a:chExt cx="24384000" cy="1892945"/>
          </a:xfrm>
        </p:grpSpPr>
        <p:sp>
          <p:nvSpPr>
            <p:cNvPr id="3" name="Freeform 3"/>
            <p:cNvSpPr/>
            <p:nvPr/>
          </p:nvSpPr>
          <p:spPr>
            <a:xfrm>
              <a:off x="0" y="0"/>
              <a:ext cx="24384000" cy="1892917"/>
            </a:xfrm>
            <a:custGeom>
              <a:avLst/>
              <a:gdLst/>
              <a:ahLst/>
              <a:cxnLst/>
              <a:rect l="l" t="t" r="r" b="b"/>
              <a:pathLst>
                <a:path w="24384000" h="1892917">
                  <a:moveTo>
                    <a:pt x="0" y="0"/>
                  </a:moveTo>
                  <a:lnTo>
                    <a:pt x="24384000" y="0"/>
                  </a:lnTo>
                  <a:lnTo>
                    <a:pt x="24384000" y="1892917"/>
                  </a:lnTo>
                  <a:lnTo>
                    <a:pt x="0" y="1892917"/>
                  </a:lnTo>
                  <a:close/>
                </a:path>
              </a:pathLst>
            </a:custGeom>
            <a:solidFill>
              <a:srgbClr val="DAE3F3"/>
            </a:solidFill>
          </p:spPr>
        </p:sp>
        <p:sp>
          <p:nvSpPr>
            <p:cNvPr id="4" name="TextBox 4"/>
            <p:cNvSpPr txBox="1"/>
            <p:nvPr/>
          </p:nvSpPr>
          <p:spPr>
            <a:xfrm>
              <a:off x="0" y="-38100"/>
              <a:ext cx="24384000" cy="1931045"/>
            </a:xfrm>
            <a:prstGeom prst="rect">
              <a:avLst/>
            </a:prstGeom>
          </p:spPr>
          <p:txBody>
            <a:bodyPr lIns="50800" tIns="50800" rIns="50800" bIns="50800" rtlCol="0" anchor="t"/>
            <a:lstStyle/>
            <a:p>
              <a:pPr algn="ctr">
                <a:lnSpc>
                  <a:spcPts val="7920"/>
                </a:lnSpc>
              </a:pPr>
              <a:r>
                <a:rPr lang="en-US" sz="6600">
                  <a:solidFill>
                    <a:srgbClr val="000000"/>
                  </a:solidFill>
                  <a:latin typeface="Arimo"/>
                  <a:ea typeface="Arimo"/>
                  <a:cs typeface="Arimo"/>
                  <a:sym typeface="Arimo"/>
                </a:rPr>
                <a:t>Proposed Block Diagram (Primary Stage)</a:t>
              </a:r>
            </a:p>
          </p:txBody>
        </p:sp>
      </p:grpSp>
      <p:grpSp>
        <p:nvGrpSpPr>
          <p:cNvPr id="5" name="Group 5"/>
          <p:cNvGrpSpPr/>
          <p:nvPr/>
        </p:nvGrpSpPr>
        <p:grpSpPr>
          <a:xfrm>
            <a:off x="9087842" y="1997800"/>
            <a:ext cx="3529050" cy="1369050"/>
            <a:chOff x="0" y="0"/>
            <a:chExt cx="4705400" cy="1825400"/>
          </a:xfrm>
        </p:grpSpPr>
        <p:sp>
          <p:nvSpPr>
            <p:cNvPr id="6" name="Freeform 6"/>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7" name="Freeform 7"/>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8" name="TextBox 8"/>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VC02 Module</a:t>
              </a:r>
            </a:p>
          </p:txBody>
        </p:sp>
      </p:grpSp>
      <p:grpSp>
        <p:nvGrpSpPr>
          <p:cNvPr id="9" name="Group 9"/>
          <p:cNvGrpSpPr/>
          <p:nvPr/>
        </p:nvGrpSpPr>
        <p:grpSpPr>
          <a:xfrm>
            <a:off x="4570095" y="1997799"/>
            <a:ext cx="3529050" cy="1369050"/>
            <a:chOff x="0" y="0"/>
            <a:chExt cx="4705400" cy="1825400"/>
          </a:xfrm>
        </p:grpSpPr>
        <p:sp>
          <p:nvSpPr>
            <p:cNvPr id="10" name="Freeform 10"/>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11" name="Freeform 11"/>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12" name="TextBox 12"/>
            <p:cNvSpPr txBox="1"/>
            <p:nvPr/>
          </p:nvSpPr>
          <p:spPr>
            <a:xfrm>
              <a:off x="0" y="-9525"/>
              <a:ext cx="4705400" cy="1834925"/>
            </a:xfrm>
            <a:prstGeom prst="rect">
              <a:avLst/>
            </a:prstGeom>
          </p:spPr>
          <p:txBody>
            <a:bodyPr lIns="50800" tIns="50800" rIns="50800" bIns="50800" rtlCol="0" anchor="ctr"/>
            <a:lstStyle/>
            <a:p>
              <a:pPr algn="ctr">
                <a:lnSpc>
                  <a:spcPts val="4320"/>
                </a:lnSpc>
              </a:pPr>
              <a:r>
                <a:rPr lang="en-US" sz="3600">
                  <a:solidFill>
                    <a:srgbClr val="333E48"/>
                  </a:solidFill>
                  <a:latin typeface="Inter"/>
                  <a:ea typeface="Inter"/>
                  <a:cs typeface="Inter"/>
                  <a:sym typeface="Inter"/>
                </a:rPr>
                <a:t>Microphone</a:t>
              </a:r>
            </a:p>
            <a:p>
              <a:pPr algn="ctr">
                <a:lnSpc>
                  <a:spcPts val="4320"/>
                </a:lnSpc>
              </a:pPr>
              <a:endParaRPr lang="en-US" sz="3600">
                <a:solidFill>
                  <a:srgbClr val="333E48"/>
                </a:solidFill>
                <a:latin typeface="Inter"/>
                <a:ea typeface="Inter"/>
                <a:cs typeface="Inter"/>
                <a:sym typeface="Inter"/>
              </a:endParaRPr>
            </a:p>
          </p:txBody>
        </p:sp>
      </p:grpSp>
      <p:grpSp>
        <p:nvGrpSpPr>
          <p:cNvPr id="13" name="Group 13"/>
          <p:cNvGrpSpPr/>
          <p:nvPr/>
        </p:nvGrpSpPr>
        <p:grpSpPr>
          <a:xfrm>
            <a:off x="9347625" y="7280012"/>
            <a:ext cx="3529050" cy="1369050"/>
            <a:chOff x="0" y="0"/>
            <a:chExt cx="4705400" cy="1825400"/>
          </a:xfrm>
        </p:grpSpPr>
        <p:sp>
          <p:nvSpPr>
            <p:cNvPr id="14" name="Freeform 14"/>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15" name="Freeform 15"/>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16" name="TextBox 16"/>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Speaker</a:t>
              </a:r>
            </a:p>
          </p:txBody>
        </p:sp>
      </p:grpSp>
      <p:grpSp>
        <p:nvGrpSpPr>
          <p:cNvPr id="17" name="Group 17"/>
          <p:cNvGrpSpPr/>
          <p:nvPr/>
        </p:nvGrpSpPr>
        <p:grpSpPr>
          <a:xfrm>
            <a:off x="6508964" y="4531203"/>
            <a:ext cx="3529050" cy="1369050"/>
            <a:chOff x="0" y="0"/>
            <a:chExt cx="4705400" cy="1825400"/>
          </a:xfrm>
        </p:grpSpPr>
        <p:sp>
          <p:nvSpPr>
            <p:cNvPr id="18" name="Freeform 18"/>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19" name="Freeform 19"/>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20" name="TextBox 20"/>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Gemini API</a:t>
              </a:r>
            </a:p>
          </p:txBody>
        </p:sp>
      </p:grpSp>
      <p:grpSp>
        <p:nvGrpSpPr>
          <p:cNvPr id="21" name="Group 21"/>
          <p:cNvGrpSpPr/>
          <p:nvPr/>
        </p:nvGrpSpPr>
        <p:grpSpPr>
          <a:xfrm>
            <a:off x="210546" y="2019522"/>
            <a:ext cx="3529050" cy="1369050"/>
            <a:chOff x="0" y="0"/>
            <a:chExt cx="4705400" cy="1825400"/>
          </a:xfrm>
        </p:grpSpPr>
        <p:sp>
          <p:nvSpPr>
            <p:cNvPr id="22" name="Freeform 22"/>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23" name="Freeform 23"/>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24" name="TextBox 24"/>
            <p:cNvSpPr txBox="1"/>
            <p:nvPr/>
          </p:nvSpPr>
          <p:spPr>
            <a:xfrm>
              <a:off x="0" y="-9525"/>
              <a:ext cx="4705400" cy="1834925"/>
            </a:xfrm>
            <a:prstGeom prst="rect">
              <a:avLst/>
            </a:prstGeom>
          </p:spPr>
          <p:txBody>
            <a:bodyPr lIns="50800" tIns="50800" rIns="50800" bIns="50800" rtlCol="0" anchor="ctr"/>
            <a:lstStyle/>
            <a:p>
              <a:pPr algn="ctr">
                <a:lnSpc>
                  <a:spcPts val="4320"/>
                </a:lnSpc>
              </a:pPr>
              <a:r>
                <a:rPr lang="en-US" sz="3600">
                  <a:solidFill>
                    <a:srgbClr val="333E48"/>
                  </a:solidFill>
                  <a:latin typeface="Inter"/>
                  <a:ea typeface="Inter"/>
                  <a:cs typeface="Inter"/>
                  <a:sym typeface="Inter"/>
                </a:rPr>
                <a:t>INPUT VOICE</a:t>
              </a:r>
            </a:p>
            <a:p>
              <a:pPr algn="ctr">
                <a:lnSpc>
                  <a:spcPts val="4320"/>
                </a:lnSpc>
              </a:pPr>
              <a:endParaRPr lang="en-US" sz="3600">
                <a:solidFill>
                  <a:srgbClr val="333E48"/>
                </a:solidFill>
                <a:latin typeface="Inter"/>
                <a:ea typeface="Inter"/>
                <a:cs typeface="Inter"/>
                <a:sym typeface="Inter"/>
              </a:endParaRPr>
            </a:p>
          </p:txBody>
        </p:sp>
      </p:grpSp>
      <p:grpSp>
        <p:nvGrpSpPr>
          <p:cNvPr id="25" name="Group 25"/>
          <p:cNvGrpSpPr/>
          <p:nvPr/>
        </p:nvGrpSpPr>
        <p:grpSpPr>
          <a:xfrm>
            <a:off x="12186288" y="4531203"/>
            <a:ext cx="3529050" cy="1369050"/>
            <a:chOff x="0" y="0"/>
            <a:chExt cx="4705400" cy="1825400"/>
          </a:xfrm>
        </p:grpSpPr>
        <p:sp>
          <p:nvSpPr>
            <p:cNvPr id="26" name="Freeform 26"/>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27" name="Freeform 27"/>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28" name="TextBox 28"/>
            <p:cNvSpPr txBox="1"/>
            <p:nvPr/>
          </p:nvSpPr>
          <p:spPr>
            <a:xfrm>
              <a:off x="0" y="-9525"/>
              <a:ext cx="4705400" cy="1834925"/>
            </a:xfrm>
            <a:prstGeom prst="rect">
              <a:avLst/>
            </a:prstGeom>
          </p:spPr>
          <p:txBody>
            <a:bodyPr lIns="50800" tIns="50800" rIns="50800" bIns="50800" rtlCol="0" anchor="ctr"/>
            <a:lstStyle/>
            <a:p>
              <a:pPr algn="ctr">
                <a:lnSpc>
                  <a:spcPts val="4320"/>
                </a:lnSpc>
              </a:pPr>
              <a:r>
                <a:rPr lang="en-US" sz="3600">
                  <a:solidFill>
                    <a:srgbClr val="333E48"/>
                  </a:solidFill>
                  <a:latin typeface="Inter"/>
                  <a:ea typeface="Inter"/>
                  <a:cs typeface="Inter"/>
                  <a:sym typeface="Inter"/>
                </a:rPr>
                <a:t>ESP32</a:t>
              </a:r>
            </a:p>
            <a:p>
              <a:pPr algn="ctr">
                <a:lnSpc>
                  <a:spcPts val="4320"/>
                </a:lnSpc>
              </a:pPr>
              <a:endParaRPr lang="en-US" sz="3600">
                <a:solidFill>
                  <a:srgbClr val="333E48"/>
                </a:solidFill>
                <a:latin typeface="Inter"/>
                <a:ea typeface="Inter"/>
                <a:cs typeface="Inter"/>
                <a:sym typeface="Inter"/>
              </a:endParaRPr>
            </a:p>
          </p:txBody>
        </p:sp>
      </p:grpSp>
      <p:grpSp>
        <p:nvGrpSpPr>
          <p:cNvPr id="29" name="Group 29"/>
          <p:cNvGrpSpPr/>
          <p:nvPr/>
        </p:nvGrpSpPr>
        <p:grpSpPr>
          <a:xfrm>
            <a:off x="1086122" y="4531202"/>
            <a:ext cx="3529050" cy="1369050"/>
            <a:chOff x="0" y="0"/>
            <a:chExt cx="4705400" cy="1825400"/>
          </a:xfrm>
        </p:grpSpPr>
        <p:sp>
          <p:nvSpPr>
            <p:cNvPr id="30" name="Freeform 30"/>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31" name="Freeform 31"/>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32" name="TextBox 32"/>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ESP32 Micro-controller</a:t>
              </a:r>
            </a:p>
          </p:txBody>
        </p:sp>
      </p:grpSp>
      <p:sp>
        <p:nvSpPr>
          <p:cNvPr id="33" name="AutoShape 33"/>
          <p:cNvSpPr/>
          <p:nvPr/>
        </p:nvSpPr>
        <p:spPr>
          <a:xfrm>
            <a:off x="3725281" y="2704047"/>
            <a:ext cx="812496" cy="9525"/>
          </a:xfrm>
          <a:prstGeom prst="line">
            <a:avLst/>
          </a:prstGeom>
          <a:ln w="9525" cap="rnd">
            <a:solidFill>
              <a:srgbClr val="4472C4"/>
            </a:solidFill>
            <a:prstDash val="solid"/>
            <a:headEnd type="none" w="sm" len="sm"/>
            <a:tailEnd type="triangle" w="lg" len="med"/>
          </a:ln>
        </p:spPr>
      </p:sp>
      <p:sp>
        <p:nvSpPr>
          <p:cNvPr id="34" name="AutoShape 34"/>
          <p:cNvSpPr/>
          <p:nvPr/>
        </p:nvSpPr>
        <p:spPr>
          <a:xfrm>
            <a:off x="8084835" y="2682325"/>
            <a:ext cx="1017316" cy="9525"/>
          </a:xfrm>
          <a:prstGeom prst="line">
            <a:avLst/>
          </a:prstGeom>
          <a:ln w="9525" cap="rnd">
            <a:solidFill>
              <a:srgbClr val="4472C4"/>
            </a:solidFill>
            <a:prstDash val="solid"/>
            <a:headEnd type="none" w="sm" len="sm"/>
            <a:tailEnd type="triangle" w="lg" len="med"/>
          </a:ln>
        </p:spPr>
      </p:sp>
      <p:sp>
        <p:nvSpPr>
          <p:cNvPr id="35" name="AutoShape 35"/>
          <p:cNvSpPr/>
          <p:nvPr/>
        </p:nvSpPr>
        <p:spPr>
          <a:xfrm flipH="1">
            <a:off x="10028546" y="5215728"/>
            <a:ext cx="2157742" cy="0"/>
          </a:xfrm>
          <a:prstGeom prst="line">
            <a:avLst/>
          </a:prstGeom>
          <a:ln w="9525" cap="rnd">
            <a:solidFill>
              <a:srgbClr val="4472C4"/>
            </a:solidFill>
            <a:prstDash val="solid"/>
            <a:headEnd type="none" w="sm" len="sm"/>
            <a:tailEnd type="triangle" w="lg" len="med"/>
          </a:ln>
        </p:spPr>
      </p:sp>
      <p:sp>
        <p:nvSpPr>
          <p:cNvPr id="36" name="AutoShape 36"/>
          <p:cNvSpPr/>
          <p:nvPr/>
        </p:nvSpPr>
        <p:spPr>
          <a:xfrm flipH="1" flipV="1">
            <a:off x="4605704" y="5215726"/>
            <a:ext cx="1903259" cy="2"/>
          </a:xfrm>
          <a:prstGeom prst="line">
            <a:avLst/>
          </a:prstGeom>
          <a:ln w="9525" cap="rnd">
            <a:solidFill>
              <a:srgbClr val="4472C4"/>
            </a:solidFill>
            <a:prstDash val="solid"/>
            <a:headEnd type="none" w="sm" len="sm"/>
            <a:tailEnd type="triangle" w="lg" len="med"/>
          </a:ln>
        </p:spPr>
      </p:sp>
      <p:grpSp>
        <p:nvGrpSpPr>
          <p:cNvPr id="37" name="Group 37"/>
          <p:cNvGrpSpPr/>
          <p:nvPr/>
        </p:nvGrpSpPr>
        <p:grpSpPr>
          <a:xfrm>
            <a:off x="5035364" y="7272467"/>
            <a:ext cx="3529050" cy="1369050"/>
            <a:chOff x="0" y="0"/>
            <a:chExt cx="4705400" cy="1825400"/>
          </a:xfrm>
        </p:grpSpPr>
        <p:sp>
          <p:nvSpPr>
            <p:cNvPr id="38" name="Freeform 38"/>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39" name="Freeform 39"/>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40" name="TextBox 40"/>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VCO2 MODULE</a:t>
              </a:r>
            </a:p>
          </p:txBody>
        </p:sp>
      </p:grpSp>
      <p:sp>
        <p:nvSpPr>
          <p:cNvPr id="41" name="AutoShape 41"/>
          <p:cNvSpPr/>
          <p:nvPr/>
        </p:nvSpPr>
        <p:spPr>
          <a:xfrm>
            <a:off x="3730129" y="2704047"/>
            <a:ext cx="730235" cy="68300"/>
          </a:xfrm>
          <a:prstGeom prst="line">
            <a:avLst/>
          </a:prstGeom>
          <a:ln w="38100" cap="flat">
            <a:solidFill>
              <a:srgbClr val="4472C4"/>
            </a:solidFill>
            <a:prstDash val="solid"/>
            <a:headEnd type="none" w="sm" len="sm"/>
            <a:tailEnd type="arrow" w="med" len="sm"/>
          </a:ln>
        </p:spPr>
      </p:sp>
      <p:sp>
        <p:nvSpPr>
          <p:cNvPr id="42" name="AutoShape 42"/>
          <p:cNvSpPr/>
          <p:nvPr/>
        </p:nvSpPr>
        <p:spPr>
          <a:xfrm flipV="1">
            <a:off x="8089678" y="2655733"/>
            <a:ext cx="802020" cy="26591"/>
          </a:xfrm>
          <a:prstGeom prst="line">
            <a:avLst/>
          </a:prstGeom>
          <a:ln w="38100" cap="flat">
            <a:solidFill>
              <a:srgbClr val="4472C4"/>
            </a:solidFill>
            <a:prstDash val="solid"/>
            <a:headEnd type="none" w="sm" len="sm"/>
            <a:tailEnd type="arrow" w="med" len="sm"/>
          </a:ln>
        </p:spPr>
      </p:sp>
      <p:sp>
        <p:nvSpPr>
          <p:cNvPr id="43" name="AutoShape 43"/>
          <p:cNvSpPr/>
          <p:nvPr/>
        </p:nvSpPr>
        <p:spPr>
          <a:xfrm flipV="1">
            <a:off x="12607424" y="2682324"/>
            <a:ext cx="1343389" cy="2"/>
          </a:xfrm>
          <a:prstGeom prst="line">
            <a:avLst/>
          </a:prstGeom>
          <a:ln w="38100" cap="flat">
            <a:solidFill>
              <a:srgbClr val="4472C4"/>
            </a:solidFill>
            <a:prstDash val="solid"/>
            <a:headEnd type="none" w="sm" len="sm"/>
            <a:tailEnd type="none" w="sm" len="sm"/>
          </a:ln>
        </p:spPr>
      </p:sp>
      <p:sp>
        <p:nvSpPr>
          <p:cNvPr id="44" name="AutoShape 44"/>
          <p:cNvSpPr/>
          <p:nvPr/>
        </p:nvSpPr>
        <p:spPr>
          <a:xfrm flipH="1">
            <a:off x="13886667" y="2713572"/>
            <a:ext cx="64146" cy="1885729"/>
          </a:xfrm>
          <a:prstGeom prst="line">
            <a:avLst/>
          </a:prstGeom>
          <a:ln w="38100" cap="flat">
            <a:solidFill>
              <a:srgbClr val="4472C4"/>
            </a:solidFill>
            <a:prstDash val="solid"/>
            <a:headEnd type="none" w="sm" len="sm"/>
            <a:tailEnd type="arrow" w="med" len="sm"/>
          </a:ln>
        </p:spPr>
      </p:sp>
      <p:sp>
        <p:nvSpPr>
          <p:cNvPr id="45" name="AutoShape 45"/>
          <p:cNvSpPr/>
          <p:nvPr/>
        </p:nvSpPr>
        <p:spPr>
          <a:xfrm flipH="1">
            <a:off x="10028546" y="5215728"/>
            <a:ext cx="2157742" cy="0"/>
          </a:xfrm>
          <a:prstGeom prst="line">
            <a:avLst/>
          </a:prstGeom>
          <a:ln w="38100" cap="flat">
            <a:solidFill>
              <a:srgbClr val="4472C4"/>
            </a:solidFill>
            <a:prstDash val="solid"/>
            <a:headEnd type="none" w="sm" len="sm"/>
            <a:tailEnd type="arrow" w="med" len="sm"/>
          </a:ln>
        </p:spPr>
      </p:sp>
      <p:sp>
        <p:nvSpPr>
          <p:cNvPr id="46" name="AutoShape 46"/>
          <p:cNvSpPr/>
          <p:nvPr/>
        </p:nvSpPr>
        <p:spPr>
          <a:xfrm flipH="1" flipV="1">
            <a:off x="4605704" y="5215726"/>
            <a:ext cx="1903259" cy="2"/>
          </a:xfrm>
          <a:prstGeom prst="line">
            <a:avLst/>
          </a:prstGeom>
          <a:ln w="38100" cap="flat">
            <a:solidFill>
              <a:srgbClr val="4472C4"/>
            </a:solidFill>
            <a:prstDash val="solid"/>
            <a:headEnd type="none" w="sm" len="sm"/>
            <a:tailEnd type="arrow" w="med" len="sm"/>
          </a:ln>
        </p:spPr>
      </p:sp>
      <p:sp>
        <p:nvSpPr>
          <p:cNvPr id="47" name="AutoShape 47"/>
          <p:cNvSpPr/>
          <p:nvPr/>
        </p:nvSpPr>
        <p:spPr>
          <a:xfrm>
            <a:off x="2850646" y="5900230"/>
            <a:ext cx="0" cy="2022883"/>
          </a:xfrm>
          <a:prstGeom prst="line">
            <a:avLst/>
          </a:prstGeom>
          <a:ln w="38100" cap="flat">
            <a:solidFill>
              <a:srgbClr val="4472C4"/>
            </a:solidFill>
            <a:prstDash val="solid"/>
            <a:headEnd type="none" w="sm" len="sm"/>
            <a:tailEnd type="none" w="sm" len="sm"/>
          </a:ln>
        </p:spPr>
      </p:sp>
      <p:sp>
        <p:nvSpPr>
          <p:cNvPr id="48" name="AutoShape 48"/>
          <p:cNvSpPr/>
          <p:nvPr/>
        </p:nvSpPr>
        <p:spPr>
          <a:xfrm flipV="1">
            <a:off x="2850646" y="7956992"/>
            <a:ext cx="2184717" cy="7545"/>
          </a:xfrm>
          <a:prstGeom prst="line">
            <a:avLst/>
          </a:prstGeom>
          <a:ln w="38100" cap="flat">
            <a:solidFill>
              <a:srgbClr val="4472C4"/>
            </a:solidFill>
            <a:prstDash val="solid"/>
            <a:headEnd type="none" w="sm" len="sm"/>
            <a:tailEnd type="arrow" w="med" len="sm"/>
          </a:ln>
        </p:spPr>
      </p:sp>
      <p:sp>
        <p:nvSpPr>
          <p:cNvPr id="49" name="AutoShape 49"/>
          <p:cNvSpPr/>
          <p:nvPr/>
        </p:nvSpPr>
        <p:spPr>
          <a:xfrm flipV="1">
            <a:off x="8554946" y="7923113"/>
            <a:ext cx="919822" cy="33879"/>
          </a:xfrm>
          <a:prstGeom prst="line">
            <a:avLst/>
          </a:prstGeom>
          <a:ln w="38100" cap="flat">
            <a:solidFill>
              <a:srgbClr val="4472C4"/>
            </a:solidFill>
            <a:prstDash val="solid"/>
            <a:headEnd type="none" w="sm" len="sm"/>
            <a:tailEnd type="arrow" w="med" len="sm"/>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19709"/>
            <a:chOff x="0" y="0"/>
            <a:chExt cx="24384000" cy="1892945"/>
          </a:xfrm>
        </p:grpSpPr>
        <p:sp>
          <p:nvSpPr>
            <p:cNvPr id="3" name="Freeform 3"/>
            <p:cNvSpPr/>
            <p:nvPr/>
          </p:nvSpPr>
          <p:spPr>
            <a:xfrm>
              <a:off x="0" y="0"/>
              <a:ext cx="24384000" cy="1892917"/>
            </a:xfrm>
            <a:custGeom>
              <a:avLst/>
              <a:gdLst/>
              <a:ahLst/>
              <a:cxnLst/>
              <a:rect l="l" t="t" r="r" b="b"/>
              <a:pathLst>
                <a:path w="24384000" h="1892917">
                  <a:moveTo>
                    <a:pt x="0" y="0"/>
                  </a:moveTo>
                  <a:lnTo>
                    <a:pt x="24384000" y="0"/>
                  </a:lnTo>
                  <a:lnTo>
                    <a:pt x="24384000" y="1892917"/>
                  </a:lnTo>
                  <a:lnTo>
                    <a:pt x="0" y="1892917"/>
                  </a:lnTo>
                  <a:close/>
                </a:path>
              </a:pathLst>
            </a:custGeom>
            <a:solidFill>
              <a:srgbClr val="DAE3F3"/>
            </a:solidFill>
          </p:spPr>
        </p:sp>
        <p:sp>
          <p:nvSpPr>
            <p:cNvPr id="4" name="TextBox 4"/>
            <p:cNvSpPr txBox="1"/>
            <p:nvPr/>
          </p:nvSpPr>
          <p:spPr>
            <a:xfrm>
              <a:off x="0" y="-38100"/>
              <a:ext cx="24384000" cy="1931045"/>
            </a:xfrm>
            <a:prstGeom prst="rect">
              <a:avLst/>
            </a:prstGeom>
          </p:spPr>
          <p:txBody>
            <a:bodyPr lIns="50800" tIns="50800" rIns="50800" bIns="50800" rtlCol="0" anchor="t"/>
            <a:lstStyle/>
            <a:p>
              <a:pPr algn="ctr">
                <a:lnSpc>
                  <a:spcPts val="7920"/>
                </a:lnSpc>
              </a:pPr>
              <a:r>
                <a:rPr lang="en-US" sz="6600">
                  <a:solidFill>
                    <a:srgbClr val="000000"/>
                  </a:solidFill>
                  <a:latin typeface="Arimo"/>
                  <a:ea typeface="Arimo"/>
                  <a:cs typeface="Arimo"/>
                  <a:sym typeface="Arimo"/>
                </a:rPr>
                <a:t>Block Diagram (Sem  4 / Final Stage)</a:t>
              </a:r>
            </a:p>
          </p:txBody>
        </p:sp>
      </p:grpSp>
      <p:grpSp>
        <p:nvGrpSpPr>
          <p:cNvPr id="5" name="Group 5"/>
          <p:cNvGrpSpPr/>
          <p:nvPr/>
        </p:nvGrpSpPr>
        <p:grpSpPr>
          <a:xfrm>
            <a:off x="9087842" y="1997800"/>
            <a:ext cx="3529050" cy="1369050"/>
            <a:chOff x="0" y="0"/>
            <a:chExt cx="4705400" cy="1825400"/>
          </a:xfrm>
        </p:grpSpPr>
        <p:sp>
          <p:nvSpPr>
            <p:cNvPr id="6" name="Freeform 6"/>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7" name="Freeform 7"/>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8" name="TextBox 8"/>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ESP32 Micro-controller</a:t>
              </a:r>
            </a:p>
          </p:txBody>
        </p:sp>
      </p:grpSp>
      <p:grpSp>
        <p:nvGrpSpPr>
          <p:cNvPr id="9" name="Group 9"/>
          <p:cNvGrpSpPr/>
          <p:nvPr/>
        </p:nvGrpSpPr>
        <p:grpSpPr>
          <a:xfrm>
            <a:off x="4570095" y="2019522"/>
            <a:ext cx="3529050" cy="1369050"/>
            <a:chOff x="0" y="0"/>
            <a:chExt cx="4705400" cy="1825400"/>
          </a:xfrm>
        </p:grpSpPr>
        <p:sp>
          <p:nvSpPr>
            <p:cNvPr id="10" name="Freeform 10"/>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11" name="Freeform 11"/>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12" name="TextBox 12"/>
            <p:cNvSpPr txBox="1"/>
            <p:nvPr/>
          </p:nvSpPr>
          <p:spPr>
            <a:xfrm>
              <a:off x="0" y="-9525"/>
              <a:ext cx="4705400" cy="1834925"/>
            </a:xfrm>
            <a:prstGeom prst="rect">
              <a:avLst/>
            </a:prstGeom>
          </p:spPr>
          <p:txBody>
            <a:bodyPr lIns="50800" tIns="50800" rIns="50800" bIns="50800" rtlCol="0" anchor="ctr"/>
            <a:lstStyle/>
            <a:p>
              <a:pPr algn="ctr">
                <a:lnSpc>
                  <a:spcPts val="4320"/>
                </a:lnSpc>
              </a:pPr>
              <a:r>
                <a:rPr lang="en-US" sz="3600">
                  <a:solidFill>
                    <a:srgbClr val="333E48"/>
                  </a:solidFill>
                  <a:latin typeface="Inter"/>
                  <a:ea typeface="Inter"/>
                  <a:cs typeface="Inter"/>
                  <a:sym typeface="Inter"/>
                </a:rPr>
                <a:t>Microphone</a:t>
              </a:r>
            </a:p>
            <a:p>
              <a:pPr algn="ctr">
                <a:lnSpc>
                  <a:spcPts val="4320"/>
                </a:lnSpc>
              </a:pPr>
              <a:endParaRPr lang="en-US" sz="3600">
                <a:solidFill>
                  <a:srgbClr val="333E48"/>
                </a:solidFill>
                <a:latin typeface="Inter"/>
                <a:ea typeface="Inter"/>
                <a:cs typeface="Inter"/>
                <a:sym typeface="Inter"/>
              </a:endParaRPr>
            </a:p>
          </p:txBody>
        </p:sp>
      </p:grpSp>
      <p:grpSp>
        <p:nvGrpSpPr>
          <p:cNvPr id="13" name="Group 13"/>
          <p:cNvGrpSpPr/>
          <p:nvPr/>
        </p:nvGrpSpPr>
        <p:grpSpPr>
          <a:xfrm>
            <a:off x="5462141" y="7290039"/>
            <a:ext cx="3529050" cy="1369050"/>
            <a:chOff x="0" y="0"/>
            <a:chExt cx="4705400" cy="1825400"/>
          </a:xfrm>
        </p:grpSpPr>
        <p:sp>
          <p:nvSpPr>
            <p:cNvPr id="14" name="Freeform 14"/>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15" name="Freeform 15"/>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16" name="TextBox 16"/>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Speaker</a:t>
              </a:r>
            </a:p>
          </p:txBody>
        </p:sp>
      </p:grpSp>
      <p:grpSp>
        <p:nvGrpSpPr>
          <p:cNvPr id="17" name="Group 17"/>
          <p:cNvGrpSpPr/>
          <p:nvPr/>
        </p:nvGrpSpPr>
        <p:grpSpPr>
          <a:xfrm>
            <a:off x="11231833" y="4531203"/>
            <a:ext cx="3529050" cy="1369050"/>
            <a:chOff x="0" y="0"/>
            <a:chExt cx="4705400" cy="1825400"/>
          </a:xfrm>
        </p:grpSpPr>
        <p:sp>
          <p:nvSpPr>
            <p:cNvPr id="18" name="Freeform 18"/>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19" name="Freeform 19"/>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20" name="TextBox 20"/>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Gemini API</a:t>
              </a:r>
            </a:p>
          </p:txBody>
        </p:sp>
      </p:grpSp>
      <p:grpSp>
        <p:nvGrpSpPr>
          <p:cNvPr id="21" name="Group 21"/>
          <p:cNvGrpSpPr/>
          <p:nvPr/>
        </p:nvGrpSpPr>
        <p:grpSpPr>
          <a:xfrm>
            <a:off x="210546" y="2019522"/>
            <a:ext cx="3529050" cy="1369050"/>
            <a:chOff x="0" y="0"/>
            <a:chExt cx="4705400" cy="1825400"/>
          </a:xfrm>
        </p:grpSpPr>
        <p:sp>
          <p:nvSpPr>
            <p:cNvPr id="22" name="Freeform 22"/>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23" name="Freeform 23"/>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24" name="TextBox 24"/>
            <p:cNvSpPr txBox="1"/>
            <p:nvPr/>
          </p:nvSpPr>
          <p:spPr>
            <a:xfrm>
              <a:off x="0" y="-9525"/>
              <a:ext cx="4705400" cy="1834925"/>
            </a:xfrm>
            <a:prstGeom prst="rect">
              <a:avLst/>
            </a:prstGeom>
          </p:spPr>
          <p:txBody>
            <a:bodyPr lIns="50800" tIns="50800" rIns="50800" bIns="50800" rtlCol="0" anchor="ctr"/>
            <a:lstStyle/>
            <a:p>
              <a:pPr algn="ctr">
                <a:lnSpc>
                  <a:spcPts val="4320"/>
                </a:lnSpc>
              </a:pPr>
              <a:r>
                <a:rPr lang="en-US" sz="3600">
                  <a:solidFill>
                    <a:srgbClr val="333E48"/>
                  </a:solidFill>
                  <a:latin typeface="Inter"/>
                  <a:ea typeface="Inter"/>
                  <a:cs typeface="Inter"/>
                  <a:sym typeface="Inter"/>
                </a:rPr>
                <a:t>INPUT VOICE</a:t>
              </a:r>
            </a:p>
            <a:p>
              <a:pPr algn="ctr">
                <a:lnSpc>
                  <a:spcPts val="4320"/>
                </a:lnSpc>
              </a:pPr>
              <a:endParaRPr lang="en-US" sz="3600">
                <a:solidFill>
                  <a:srgbClr val="333E48"/>
                </a:solidFill>
                <a:latin typeface="Inter"/>
                <a:ea typeface="Inter"/>
                <a:cs typeface="Inter"/>
                <a:sym typeface="Inter"/>
              </a:endParaRPr>
            </a:p>
          </p:txBody>
        </p:sp>
      </p:grpSp>
      <p:grpSp>
        <p:nvGrpSpPr>
          <p:cNvPr id="25" name="Group 25"/>
          <p:cNvGrpSpPr/>
          <p:nvPr/>
        </p:nvGrpSpPr>
        <p:grpSpPr>
          <a:xfrm>
            <a:off x="13421720" y="1741098"/>
            <a:ext cx="3529050" cy="1882453"/>
            <a:chOff x="0" y="0"/>
            <a:chExt cx="4705400" cy="2509937"/>
          </a:xfrm>
        </p:grpSpPr>
        <p:sp>
          <p:nvSpPr>
            <p:cNvPr id="26" name="Freeform 26"/>
            <p:cNvSpPr/>
            <p:nvPr/>
          </p:nvSpPr>
          <p:spPr>
            <a:xfrm>
              <a:off x="12700" y="17463"/>
              <a:ext cx="4680077" cy="2474972"/>
            </a:xfrm>
            <a:custGeom>
              <a:avLst/>
              <a:gdLst/>
              <a:ahLst/>
              <a:cxnLst/>
              <a:rect l="l" t="t" r="r" b="b"/>
              <a:pathLst>
                <a:path w="4680077" h="2474972">
                  <a:moveTo>
                    <a:pt x="0" y="412466"/>
                  </a:moveTo>
                  <a:cubicBezTo>
                    <a:pt x="0" y="184754"/>
                    <a:pt x="135509" y="0"/>
                    <a:pt x="302641" y="0"/>
                  </a:cubicBezTo>
                  <a:lnTo>
                    <a:pt x="4377436" y="0"/>
                  </a:lnTo>
                  <a:cubicBezTo>
                    <a:pt x="4544568" y="0"/>
                    <a:pt x="4680077" y="184754"/>
                    <a:pt x="4680077" y="412466"/>
                  </a:cubicBezTo>
                  <a:lnTo>
                    <a:pt x="4680077" y="2062505"/>
                  </a:lnTo>
                  <a:cubicBezTo>
                    <a:pt x="4680077" y="2290392"/>
                    <a:pt x="4544568" y="2474971"/>
                    <a:pt x="4377436" y="2474971"/>
                  </a:cubicBezTo>
                  <a:lnTo>
                    <a:pt x="302641" y="2474971"/>
                  </a:lnTo>
                  <a:cubicBezTo>
                    <a:pt x="135509" y="2474971"/>
                    <a:pt x="0" y="2290392"/>
                    <a:pt x="0" y="2062505"/>
                  </a:cubicBezTo>
                  <a:close/>
                </a:path>
              </a:pathLst>
            </a:custGeom>
            <a:solidFill>
              <a:srgbClr val="FFFFFF"/>
            </a:solidFill>
          </p:spPr>
        </p:sp>
        <p:sp>
          <p:nvSpPr>
            <p:cNvPr id="27" name="Freeform 27"/>
            <p:cNvSpPr/>
            <p:nvPr/>
          </p:nvSpPr>
          <p:spPr>
            <a:xfrm>
              <a:off x="0" y="0"/>
              <a:ext cx="4705477" cy="2509897"/>
            </a:xfrm>
            <a:custGeom>
              <a:avLst/>
              <a:gdLst/>
              <a:ahLst/>
              <a:cxnLst/>
              <a:rect l="l" t="t" r="r" b="b"/>
              <a:pathLst>
                <a:path w="4705477" h="2509897">
                  <a:moveTo>
                    <a:pt x="0" y="429929"/>
                  </a:moveTo>
                  <a:cubicBezTo>
                    <a:pt x="0" y="192438"/>
                    <a:pt x="141224" y="0"/>
                    <a:pt x="315341" y="0"/>
                  </a:cubicBezTo>
                  <a:lnTo>
                    <a:pt x="4390136" y="0"/>
                  </a:lnTo>
                  <a:lnTo>
                    <a:pt x="4390136" y="17463"/>
                  </a:lnTo>
                  <a:lnTo>
                    <a:pt x="4390136" y="0"/>
                  </a:lnTo>
                  <a:cubicBezTo>
                    <a:pt x="4564126" y="0"/>
                    <a:pt x="4705477" y="192438"/>
                    <a:pt x="4705477" y="429929"/>
                  </a:cubicBezTo>
                  <a:lnTo>
                    <a:pt x="4692777" y="429929"/>
                  </a:lnTo>
                  <a:lnTo>
                    <a:pt x="4705477" y="429929"/>
                  </a:lnTo>
                  <a:lnTo>
                    <a:pt x="4705477" y="2079968"/>
                  </a:lnTo>
                  <a:lnTo>
                    <a:pt x="4692777" y="2079968"/>
                  </a:lnTo>
                  <a:lnTo>
                    <a:pt x="4705477" y="2079968"/>
                  </a:lnTo>
                  <a:cubicBezTo>
                    <a:pt x="4705477" y="2317634"/>
                    <a:pt x="4564253" y="2509897"/>
                    <a:pt x="4390136" y="2509897"/>
                  </a:cubicBezTo>
                  <a:lnTo>
                    <a:pt x="4390136" y="2492434"/>
                  </a:lnTo>
                  <a:lnTo>
                    <a:pt x="4390136" y="2509897"/>
                  </a:lnTo>
                  <a:lnTo>
                    <a:pt x="315341" y="2509897"/>
                  </a:lnTo>
                  <a:lnTo>
                    <a:pt x="315341" y="2492434"/>
                  </a:lnTo>
                  <a:lnTo>
                    <a:pt x="315341" y="2509897"/>
                  </a:lnTo>
                  <a:cubicBezTo>
                    <a:pt x="141224" y="2509897"/>
                    <a:pt x="0" y="2317634"/>
                    <a:pt x="0" y="2079968"/>
                  </a:cubicBezTo>
                  <a:lnTo>
                    <a:pt x="0" y="429929"/>
                  </a:lnTo>
                  <a:lnTo>
                    <a:pt x="12700" y="429929"/>
                  </a:lnTo>
                  <a:lnTo>
                    <a:pt x="0" y="429929"/>
                  </a:lnTo>
                  <a:moveTo>
                    <a:pt x="25400" y="429929"/>
                  </a:moveTo>
                  <a:lnTo>
                    <a:pt x="25400" y="2079968"/>
                  </a:lnTo>
                  <a:lnTo>
                    <a:pt x="12700" y="2079968"/>
                  </a:lnTo>
                  <a:lnTo>
                    <a:pt x="25400" y="2079968"/>
                  </a:lnTo>
                  <a:cubicBezTo>
                    <a:pt x="25400" y="2298076"/>
                    <a:pt x="155067" y="2474972"/>
                    <a:pt x="315341" y="2474972"/>
                  </a:cubicBezTo>
                  <a:lnTo>
                    <a:pt x="4390136" y="2474972"/>
                  </a:lnTo>
                  <a:cubicBezTo>
                    <a:pt x="4550283" y="2474972"/>
                    <a:pt x="4680077" y="2297901"/>
                    <a:pt x="4680077" y="2079968"/>
                  </a:cubicBezTo>
                  <a:lnTo>
                    <a:pt x="4680077" y="429929"/>
                  </a:lnTo>
                  <a:cubicBezTo>
                    <a:pt x="4679950" y="211996"/>
                    <a:pt x="4550283" y="34925"/>
                    <a:pt x="4390136" y="34925"/>
                  </a:cubicBezTo>
                  <a:lnTo>
                    <a:pt x="315341" y="34925"/>
                  </a:lnTo>
                  <a:lnTo>
                    <a:pt x="315341" y="17463"/>
                  </a:lnTo>
                  <a:lnTo>
                    <a:pt x="315341" y="34925"/>
                  </a:lnTo>
                  <a:cubicBezTo>
                    <a:pt x="155067" y="34925"/>
                    <a:pt x="25400" y="211996"/>
                    <a:pt x="25400" y="429929"/>
                  </a:cubicBezTo>
                  <a:close/>
                </a:path>
              </a:pathLst>
            </a:custGeom>
            <a:solidFill>
              <a:srgbClr val="70AD47"/>
            </a:solidFill>
          </p:spPr>
        </p:sp>
        <p:sp>
          <p:nvSpPr>
            <p:cNvPr id="28" name="TextBox 28"/>
            <p:cNvSpPr txBox="1"/>
            <p:nvPr/>
          </p:nvSpPr>
          <p:spPr>
            <a:xfrm>
              <a:off x="0" y="-66675"/>
              <a:ext cx="4705400" cy="2576612"/>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STT /</a:t>
              </a:r>
            </a:p>
            <a:p>
              <a:pPr algn="ctr">
                <a:lnSpc>
                  <a:spcPts val="4320"/>
                </a:lnSpc>
              </a:pPr>
              <a:r>
                <a:rPr lang="en-US" sz="3600">
                  <a:solidFill>
                    <a:srgbClr val="000000"/>
                  </a:solidFill>
                  <a:latin typeface="Calibri (MS)"/>
                  <a:ea typeface="Calibri (MS)"/>
                  <a:cs typeface="Calibri (MS)"/>
                  <a:sym typeface="Calibri (MS)"/>
                </a:rPr>
                <a:t>GOOGLE CLOUD BASED STT</a:t>
              </a:r>
            </a:p>
          </p:txBody>
        </p:sp>
      </p:grpSp>
      <p:grpSp>
        <p:nvGrpSpPr>
          <p:cNvPr id="29" name="Group 29"/>
          <p:cNvGrpSpPr/>
          <p:nvPr/>
        </p:nvGrpSpPr>
        <p:grpSpPr>
          <a:xfrm>
            <a:off x="5462141" y="4521678"/>
            <a:ext cx="3529050" cy="1369050"/>
            <a:chOff x="0" y="0"/>
            <a:chExt cx="4705400" cy="1825400"/>
          </a:xfrm>
        </p:grpSpPr>
        <p:sp>
          <p:nvSpPr>
            <p:cNvPr id="30" name="Freeform 30"/>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31" name="Freeform 31"/>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32" name="TextBox 32"/>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ESP32 Micro-controller</a:t>
              </a:r>
            </a:p>
          </p:txBody>
        </p:sp>
      </p:grpSp>
      <p:grpSp>
        <p:nvGrpSpPr>
          <p:cNvPr id="33" name="Group 33"/>
          <p:cNvGrpSpPr/>
          <p:nvPr/>
        </p:nvGrpSpPr>
        <p:grpSpPr>
          <a:xfrm>
            <a:off x="858834" y="7258139"/>
            <a:ext cx="3529050" cy="1369050"/>
            <a:chOff x="0" y="0"/>
            <a:chExt cx="4705400" cy="1825400"/>
          </a:xfrm>
        </p:grpSpPr>
        <p:sp>
          <p:nvSpPr>
            <p:cNvPr id="34" name="Freeform 34"/>
            <p:cNvSpPr/>
            <p:nvPr/>
          </p:nvSpPr>
          <p:spPr>
            <a:xfrm>
              <a:off x="12700" y="12700"/>
              <a:ext cx="4680077" cy="1799971"/>
            </a:xfrm>
            <a:custGeom>
              <a:avLst/>
              <a:gdLst/>
              <a:ahLst/>
              <a:cxnLst/>
              <a:rect l="l" t="t" r="r" b="b"/>
              <a:pathLst>
                <a:path w="4680077" h="1799971">
                  <a:moveTo>
                    <a:pt x="0" y="299974"/>
                  </a:moveTo>
                  <a:cubicBezTo>
                    <a:pt x="0" y="134366"/>
                    <a:pt x="135509" y="0"/>
                    <a:pt x="302641" y="0"/>
                  </a:cubicBezTo>
                  <a:lnTo>
                    <a:pt x="4377436" y="0"/>
                  </a:lnTo>
                  <a:cubicBezTo>
                    <a:pt x="4544568" y="0"/>
                    <a:pt x="4680077" y="134366"/>
                    <a:pt x="4680077" y="299974"/>
                  </a:cubicBezTo>
                  <a:lnTo>
                    <a:pt x="4680077" y="1499997"/>
                  </a:lnTo>
                  <a:cubicBezTo>
                    <a:pt x="4680077" y="1665732"/>
                    <a:pt x="4544568" y="1799971"/>
                    <a:pt x="4377436" y="1799971"/>
                  </a:cubicBezTo>
                  <a:lnTo>
                    <a:pt x="302641" y="1799971"/>
                  </a:lnTo>
                  <a:cubicBezTo>
                    <a:pt x="135509" y="1799971"/>
                    <a:pt x="0" y="1665732"/>
                    <a:pt x="0" y="1499997"/>
                  </a:cubicBezTo>
                  <a:close/>
                </a:path>
              </a:pathLst>
            </a:custGeom>
            <a:solidFill>
              <a:srgbClr val="FFFFFF"/>
            </a:solidFill>
          </p:spPr>
        </p:sp>
        <p:sp>
          <p:nvSpPr>
            <p:cNvPr id="35" name="Freeform 35"/>
            <p:cNvSpPr/>
            <p:nvPr/>
          </p:nvSpPr>
          <p:spPr>
            <a:xfrm>
              <a:off x="0" y="0"/>
              <a:ext cx="4705477" cy="1825371"/>
            </a:xfrm>
            <a:custGeom>
              <a:avLst/>
              <a:gdLst/>
              <a:ahLst/>
              <a:cxnLst/>
              <a:rect l="l" t="t" r="r" b="b"/>
              <a:pathLst>
                <a:path w="4705477" h="1825371">
                  <a:moveTo>
                    <a:pt x="0" y="312674"/>
                  </a:moveTo>
                  <a:cubicBezTo>
                    <a:pt x="0" y="139954"/>
                    <a:pt x="141224" y="0"/>
                    <a:pt x="315341" y="0"/>
                  </a:cubicBezTo>
                  <a:lnTo>
                    <a:pt x="4390136" y="0"/>
                  </a:lnTo>
                  <a:lnTo>
                    <a:pt x="4390136" y="12700"/>
                  </a:lnTo>
                  <a:lnTo>
                    <a:pt x="4390136" y="0"/>
                  </a:lnTo>
                  <a:cubicBezTo>
                    <a:pt x="4564126" y="0"/>
                    <a:pt x="4705477" y="139954"/>
                    <a:pt x="4705477" y="312674"/>
                  </a:cubicBezTo>
                  <a:lnTo>
                    <a:pt x="4692777" y="312674"/>
                  </a:lnTo>
                  <a:lnTo>
                    <a:pt x="4705477" y="312674"/>
                  </a:lnTo>
                  <a:lnTo>
                    <a:pt x="4705477" y="1512697"/>
                  </a:lnTo>
                  <a:lnTo>
                    <a:pt x="4692777" y="1512697"/>
                  </a:lnTo>
                  <a:lnTo>
                    <a:pt x="4705477" y="1512697"/>
                  </a:lnTo>
                  <a:cubicBezTo>
                    <a:pt x="4705477" y="1685544"/>
                    <a:pt x="4564253" y="1825371"/>
                    <a:pt x="4390136" y="1825371"/>
                  </a:cubicBezTo>
                  <a:lnTo>
                    <a:pt x="4390136" y="1812671"/>
                  </a:lnTo>
                  <a:lnTo>
                    <a:pt x="4390136" y="1825371"/>
                  </a:lnTo>
                  <a:lnTo>
                    <a:pt x="315341" y="1825371"/>
                  </a:lnTo>
                  <a:lnTo>
                    <a:pt x="315341" y="1812671"/>
                  </a:lnTo>
                  <a:lnTo>
                    <a:pt x="315341" y="1825371"/>
                  </a:lnTo>
                  <a:cubicBezTo>
                    <a:pt x="141224" y="1825371"/>
                    <a:pt x="0" y="1685544"/>
                    <a:pt x="0" y="1512697"/>
                  </a:cubicBezTo>
                  <a:lnTo>
                    <a:pt x="0" y="312674"/>
                  </a:lnTo>
                  <a:lnTo>
                    <a:pt x="12700" y="312674"/>
                  </a:lnTo>
                  <a:lnTo>
                    <a:pt x="0" y="312674"/>
                  </a:lnTo>
                  <a:moveTo>
                    <a:pt x="25400" y="312674"/>
                  </a:moveTo>
                  <a:lnTo>
                    <a:pt x="25400" y="1512697"/>
                  </a:lnTo>
                  <a:lnTo>
                    <a:pt x="12700" y="1512697"/>
                  </a:lnTo>
                  <a:lnTo>
                    <a:pt x="25400" y="1512697"/>
                  </a:lnTo>
                  <a:cubicBezTo>
                    <a:pt x="25400" y="1671320"/>
                    <a:pt x="155067" y="1799971"/>
                    <a:pt x="315341" y="1799971"/>
                  </a:cubicBezTo>
                  <a:lnTo>
                    <a:pt x="4390136" y="1799971"/>
                  </a:lnTo>
                  <a:cubicBezTo>
                    <a:pt x="4550283" y="1799971"/>
                    <a:pt x="4680077" y="1671193"/>
                    <a:pt x="4680077" y="1512697"/>
                  </a:cubicBezTo>
                  <a:lnTo>
                    <a:pt x="4680077" y="312674"/>
                  </a:lnTo>
                  <a:cubicBezTo>
                    <a:pt x="4679950" y="154178"/>
                    <a:pt x="4550283" y="25400"/>
                    <a:pt x="4390136" y="25400"/>
                  </a:cubicBezTo>
                  <a:lnTo>
                    <a:pt x="315341" y="25400"/>
                  </a:lnTo>
                  <a:lnTo>
                    <a:pt x="315341" y="12700"/>
                  </a:lnTo>
                  <a:lnTo>
                    <a:pt x="315341" y="25400"/>
                  </a:lnTo>
                  <a:cubicBezTo>
                    <a:pt x="155067" y="25400"/>
                    <a:pt x="25400" y="154178"/>
                    <a:pt x="25400" y="312674"/>
                  </a:cubicBezTo>
                  <a:close/>
                </a:path>
              </a:pathLst>
            </a:custGeom>
            <a:solidFill>
              <a:srgbClr val="70AD47"/>
            </a:solidFill>
          </p:spPr>
        </p:sp>
        <p:sp>
          <p:nvSpPr>
            <p:cNvPr id="36" name="TextBox 36"/>
            <p:cNvSpPr txBox="1"/>
            <p:nvPr/>
          </p:nvSpPr>
          <p:spPr>
            <a:xfrm>
              <a:off x="0" y="-66675"/>
              <a:ext cx="4705400" cy="1892075"/>
            </a:xfrm>
            <a:prstGeom prst="rect">
              <a:avLst/>
            </a:prstGeom>
          </p:spPr>
          <p:txBody>
            <a:bodyPr lIns="50800" tIns="50800" rIns="50800" bIns="50800" rtlCol="0" anchor="ctr"/>
            <a:lstStyle/>
            <a:p>
              <a:pPr algn="ctr">
                <a:lnSpc>
                  <a:spcPts val="4320"/>
                </a:lnSpc>
              </a:pPr>
              <a:r>
                <a:rPr lang="en-US" sz="3600">
                  <a:solidFill>
                    <a:srgbClr val="000000"/>
                  </a:solidFill>
                  <a:latin typeface="Calibri (MS)"/>
                  <a:ea typeface="Calibri (MS)"/>
                  <a:cs typeface="Calibri (MS)"/>
                  <a:sym typeface="Calibri (MS)"/>
                </a:rPr>
                <a:t>GOOGLE CLOUD TTS</a:t>
              </a:r>
            </a:p>
          </p:txBody>
        </p:sp>
      </p:grpSp>
      <p:sp>
        <p:nvSpPr>
          <p:cNvPr id="39" name="AutoShape 39"/>
          <p:cNvSpPr/>
          <p:nvPr/>
        </p:nvSpPr>
        <p:spPr>
          <a:xfrm flipH="1" flipV="1">
            <a:off x="8981724" y="5206203"/>
            <a:ext cx="2250109" cy="9525"/>
          </a:xfrm>
          <a:prstGeom prst="line">
            <a:avLst/>
          </a:prstGeom>
          <a:ln w="9525" cap="rnd">
            <a:solidFill>
              <a:srgbClr val="4472C4"/>
            </a:solidFill>
            <a:prstDash val="solid"/>
            <a:headEnd type="none" w="sm" len="sm"/>
            <a:tailEnd type="triangle" w="lg" len="med"/>
          </a:ln>
        </p:spPr>
      </p:sp>
      <p:sp>
        <p:nvSpPr>
          <p:cNvPr id="40" name="AutoShape 40"/>
          <p:cNvSpPr/>
          <p:nvPr/>
        </p:nvSpPr>
        <p:spPr>
          <a:xfrm>
            <a:off x="11903504" y="3366849"/>
            <a:ext cx="0" cy="1164354"/>
          </a:xfrm>
          <a:prstGeom prst="line">
            <a:avLst/>
          </a:prstGeom>
          <a:ln w="38100" cap="flat">
            <a:solidFill>
              <a:srgbClr val="4472C4"/>
            </a:solidFill>
            <a:prstDash val="solid"/>
            <a:headEnd type="none" w="sm" len="sm"/>
            <a:tailEnd type="arrow" w="med" len="sm"/>
          </a:ln>
        </p:spPr>
      </p:sp>
      <p:sp>
        <p:nvSpPr>
          <p:cNvPr id="41" name="AutoShape 41"/>
          <p:cNvSpPr/>
          <p:nvPr/>
        </p:nvSpPr>
        <p:spPr>
          <a:xfrm>
            <a:off x="1975071" y="5206203"/>
            <a:ext cx="3487070" cy="0"/>
          </a:xfrm>
          <a:prstGeom prst="line">
            <a:avLst/>
          </a:prstGeom>
          <a:ln w="38100" cap="flat">
            <a:solidFill>
              <a:srgbClr val="4472C4"/>
            </a:solidFill>
            <a:prstDash val="solid"/>
            <a:headEnd type="none" w="sm" len="sm"/>
            <a:tailEnd type="none" w="sm" len="sm"/>
          </a:ln>
        </p:spPr>
      </p:sp>
      <p:sp>
        <p:nvSpPr>
          <p:cNvPr id="42" name="AutoShape 42"/>
          <p:cNvSpPr/>
          <p:nvPr/>
        </p:nvSpPr>
        <p:spPr>
          <a:xfrm flipH="1">
            <a:off x="1975071" y="5215728"/>
            <a:ext cx="19050" cy="2014128"/>
          </a:xfrm>
          <a:prstGeom prst="line">
            <a:avLst/>
          </a:prstGeom>
          <a:ln w="38100" cap="flat">
            <a:solidFill>
              <a:srgbClr val="4472C4"/>
            </a:solidFill>
            <a:prstDash val="solid"/>
            <a:headEnd type="none" w="sm" len="sm"/>
            <a:tailEnd type="arrow" w="med" len="sm"/>
          </a:ln>
        </p:spPr>
      </p:sp>
      <p:sp>
        <p:nvSpPr>
          <p:cNvPr id="43" name="AutoShape 43"/>
          <p:cNvSpPr/>
          <p:nvPr/>
        </p:nvSpPr>
        <p:spPr>
          <a:xfrm flipH="1">
            <a:off x="2623359" y="5648828"/>
            <a:ext cx="0" cy="1609311"/>
          </a:xfrm>
          <a:prstGeom prst="line">
            <a:avLst/>
          </a:prstGeom>
          <a:ln w="38100" cap="flat">
            <a:solidFill>
              <a:srgbClr val="4472C4"/>
            </a:solidFill>
            <a:prstDash val="solid"/>
            <a:headEnd type="none" w="sm" len="sm"/>
            <a:tailEnd type="none" w="sm" len="sm"/>
          </a:ln>
        </p:spPr>
      </p:sp>
      <p:sp>
        <p:nvSpPr>
          <p:cNvPr id="44" name="AutoShape 44"/>
          <p:cNvSpPr/>
          <p:nvPr/>
        </p:nvSpPr>
        <p:spPr>
          <a:xfrm>
            <a:off x="2623359" y="5648828"/>
            <a:ext cx="2731323" cy="0"/>
          </a:xfrm>
          <a:prstGeom prst="line">
            <a:avLst/>
          </a:prstGeom>
          <a:ln w="38100" cap="flat">
            <a:solidFill>
              <a:srgbClr val="4472C4"/>
            </a:solidFill>
            <a:prstDash val="solid"/>
            <a:headEnd type="none" w="sm" len="sm"/>
            <a:tailEnd type="arrow" w="med" len="sm"/>
          </a:ln>
        </p:spPr>
      </p:sp>
      <p:sp>
        <p:nvSpPr>
          <p:cNvPr id="45" name="AutoShape 45"/>
          <p:cNvSpPr/>
          <p:nvPr/>
        </p:nvSpPr>
        <p:spPr>
          <a:xfrm>
            <a:off x="7226666" y="5890706"/>
            <a:ext cx="0" cy="1399333"/>
          </a:xfrm>
          <a:prstGeom prst="line">
            <a:avLst/>
          </a:prstGeom>
          <a:ln w="38100" cap="flat">
            <a:solidFill>
              <a:srgbClr val="4472C4"/>
            </a:solidFill>
            <a:prstDash val="solid"/>
            <a:headEnd type="none" w="sm" len="sm"/>
            <a:tailEnd type="arrow" w="med" len="sm"/>
          </a:ln>
        </p:spPr>
      </p:sp>
      <p:sp>
        <p:nvSpPr>
          <p:cNvPr id="46" name="AutoShape 46"/>
          <p:cNvSpPr/>
          <p:nvPr/>
        </p:nvSpPr>
        <p:spPr>
          <a:xfrm>
            <a:off x="8981724" y="5206203"/>
            <a:ext cx="2250109" cy="9525"/>
          </a:xfrm>
          <a:prstGeom prst="line">
            <a:avLst/>
          </a:prstGeom>
          <a:ln w="38100" cap="flat">
            <a:solidFill>
              <a:srgbClr val="4472C4"/>
            </a:solidFill>
            <a:prstDash val="solid"/>
            <a:headEnd type="none" w="sm" len="sm"/>
            <a:tailEnd type="arrow" w="med" len="sm"/>
          </a:ln>
        </p:spPr>
      </p:sp>
      <p:sp>
        <p:nvSpPr>
          <p:cNvPr id="47" name="AutoShape 47"/>
          <p:cNvSpPr/>
          <p:nvPr/>
        </p:nvSpPr>
        <p:spPr>
          <a:xfrm>
            <a:off x="3730129" y="2704047"/>
            <a:ext cx="839966" cy="0"/>
          </a:xfrm>
          <a:prstGeom prst="line">
            <a:avLst/>
          </a:prstGeom>
          <a:ln w="38100" cap="flat">
            <a:solidFill>
              <a:srgbClr val="4472C4"/>
            </a:solidFill>
            <a:prstDash val="solid"/>
            <a:headEnd type="none" w="sm" len="sm"/>
            <a:tailEnd type="arrow" w="med" len="sm"/>
          </a:ln>
        </p:spPr>
      </p:sp>
      <p:sp>
        <p:nvSpPr>
          <p:cNvPr id="48" name="AutoShape 48"/>
          <p:cNvSpPr/>
          <p:nvPr/>
        </p:nvSpPr>
        <p:spPr>
          <a:xfrm>
            <a:off x="8089679" y="2704047"/>
            <a:ext cx="1017156" cy="0"/>
          </a:xfrm>
          <a:prstGeom prst="line">
            <a:avLst/>
          </a:prstGeom>
          <a:ln w="38100" cap="flat">
            <a:solidFill>
              <a:srgbClr val="4472C4"/>
            </a:solidFill>
            <a:prstDash val="solid"/>
            <a:headEnd type="none" w="sm" len="sm"/>
            <a:tailEnd type="arrow" w="med" len="sm"/>
          </a:ln>
        </p:spPr>
      </p:sp>
      <p:sp>
        <p:nvSpPr>
          <p:cNvPr id="49" name="AutoShape 49"/>
          <p:cNvSpPr/>
          <p:nvPr/>
        </p:nvSpPr>
        <p:spPr>
          <a:xfrm>
            <a:off x="12616892" y="2657321"/>
            <a:ext cx="814353" cy="46726"/>
          </a:xfrm>
          <a:prstGeom prst="line">
            <a:avLst/>
          </a:prstGeom>
          <a:ln w="38100" cap="flat">
            <a:solidFill>
              <a:srgbClr val="4472C4"/>
            </a:solidFill>
            <a:prstDash val="solid"/>
            <a:headEnd type="none" w="sm" len="sm"/>
            <a:tailEnd type="arrow" w="med" len="sm"/>
          </a:ln>
        </p:spPr>
      </p:sp>
      <p:sp>
        <p:nvSpPr>
          <p:cNvPr id="50" name="AutoShape 50"/>
          <p:cNvSpPr/>
          <p:nvPr/>
        </p:nvSpPr>
        <p:spPr>
          <a:xfrm flipH="1" flipV="1">
            <a:off x="12596628" y="3021150"/>
            <a:ext cx="799459" cy="9525"/>
          </a:xfrm>
          <a:prstGeom prst="line">
            <a:avLst/>
          </a:prstGeom>
          <a:ln w="38100" cap="flat">
            <a:solidFill>
              <a:srgbClr val="4472C4"/>
            </a:solidFill>
            <a:prstDash val="solid"/>
            <a:headEnd type="none" w="sm" len="sm"/>
            <a:tailEnd type="arrow" w="med"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FF2CC"/>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Literature Review</a:t>
              </a:r>
            </a:p>
          </p:txBody>
        </p:sp>
      </p:grpSp>
      <p:grpSp>
        <p:nvGrpSpPr>
          <p:cNvPr id="5" name="Group 5"/>
          <p:cNvGrpSpPr/>
          <p:nvPr/>
        </p:nvGrpSpPr>
        <p:grpSpPr>
          <a:xfrm>
            <a:off x="2743200" y="1725339"/>
            <a:ext cx="14508480" cy="600165"/>
            <a:chOff x="0" y="0"/>
            <a:chExt cx="19344640" cy="800220"/>
          </a:xfrm>
        </p:grpSpPr>
        <p:sp>
          <p:nvSpPr>
            <p:cNvPr id="6" name="Freeform 6"/>
            <p:cNvSpPr/>
            <p:nvPr/>
          </p:nvSpPr>
          <p:spPr>
            <a:xfrm>
              <a:off x="0" y="0"/>
              <a:ext cx="19344639" cy="800220"/>
            </a:xfrm>
            <a:custGeom>
              <a:avLst/>
              <a:gdLst/>
              <a:ahLst/>
              <a:cxnLst/>
              <a:rect l="l" t="t" r="r" b="b"/>
              <a:pathLst>
                <a:path w="19344639" h="800220">
                  <a:moveTo>
                    <a:pt x="0" y="0"/>
                  </a:moveTo>
                  <a:lnTo>
                    <a:pt x="19344639" y="0"/>
                  </a:lnTo>
                  <a:lnTo>
                    <a:pt x="19344639" y="800220"/>
                  </a:lnTo>
                  <a:lnTo>
                    <a:pt x="0" y="800220"/>
                  </a:lnTo>
                  <a:close/>
                </a:path>
              </a:pathLst>
            </a:custGeom>
            <a:solidFill>
              <a:srgbClr val="000000">
                <a:alpha val="0"/>
              </a:srgbClr>
            </a:solidFill>
          </p:spPr>
        </p:sp>
        <p:sp>
          <p:nvSpPr>
            <p:cNvPr id="7" name="TextBox 7"/>
            <p:cNvSpPr txBox="1"/>
            <p:nvPr/>
          </p:nvSpPr>
          <p:spPr>
            <a:xfrm>
              <a:off x="0" y="-19050"/>
              <a:ext cx="19344640" cy="819270"/>
            </a:xfrm>
            <a:prstGeom prst="rect">
              <a:avLst/>
            </a:prstGeom>
          </p:spPr>
          <p:txBody>
            <a:bodyPr lIns="0" tIns="0" rIns="0" bIns="0" rtlCol="0" anchor="t"/>
            <a:lstStyle/>
            <a:p>
              <a:pPr algn="ctr">
                <a:lnSpc>
                  <a:spcPts val="3600"/>
                </a:lnSpc>
              </a:pPr>
              <a:r>
                <a:rPr lang="en-US" sz="3000" b="1">
                  <a:solidFill>
                    <a:srgbClr val="292929"/>
                  </a:solidFill>
                  <a:latin typeface="Arimo Bold"/>
                  <a:ea typeface="Arimo Bold"/>
                  <a:cs typeface="Arimo Bold"/>
                  <a:sym typeface="Arimo Bold"/>
                </a:rPr>
                <a:t>Survey of Natural Language Processing for Education</a:t>
              </a:r>
            </a:p>
          </p:txBody>
        </p:sp>
      </p:grpSp>
      <p:grpSp>
        <p:nvGrpSpPr>
          <p:cNvPr id="8" name="Group 8"/>
          <p:cNvGrpSpPr/>
          <p:nvPr/>
        </p:nvGrpSpPr>
        <p:grpSpPr>
          <a:xfrm>
            <a:off x="662940" y="3521363"/>
            <a:ext cx="9159240" cy="1384995"/>
            <a:chOff x="0" y="0"/>
            <a:chExt cx="12212320" cy="1846660"/>
          </a:xfrm>
        </p:grpSpPr>
        <p:sp>
          <p:nvSpPr>
            <p:cNvPr id="9" name="Freeform 9"/>
            <p:cNvSpPr/>
            <p:nvPr/>
          </p:nvSpPr>
          <p:spPr>
            <a:xfrm>
              <a:off x="0" y="0"/>
              <a:ext cx="12212320" cy="1846660"/>
            </a:xfrm>
            <a:custGeom>
              <a:avLst/>
              <a:gdLst/>
              <a:ahLst/>
              <a:cxnLst/>
              <a:rect l="l" t="t" r="r" b="b"/>
              <a:pathLst>
                <a:path w="12212320" h="1846660">
                  <a:moveTo>
                    <a:pt x="0" y="0"/>
                  </a:moveTo>
                  <a:lnTo>
                    <a:pt x="12212320" y="0"/>
                  </a:lnTo>
                  <a:lnTo>
                    <a:pt x="12212320" y="1846660"/>
                  </a:lnTo>
                  <a:lnTo>
                    <a:pt x="0" y="1846660"/>
                  </a:lnTo>
                  <a:close/>
                </a:path>
              </a:pathLst>
            </a:custGeom>
            <a:solidFill>
              <a:srgbClr val="000000">
                <a:alpha val="0"/>
              </a:srgbClr>
            </a:solidFill>
          </p:spPr>
        </p:sp>
        <p:sp>
          <p:nvSpPr>
            <p:cNvPr id="10" name="TextBox 10"/>
            <p:cNvSpPr txBox="1"/>
            <p:nvPr/>
          </p:nvSpPr>
          <p:spPr>
            <a:xfrm>
              <a:off x="0" y="-19050"/>
              <a:ext cx="12212320" cy="1865710"/>
            </a:xfrm>
            <a:prstGeom prst="rect">
              <a:avLst/>
            </a:prstGeom>
          </p:spPr>
          <p:txBody>
            <a:bodyPr lIns="0" tIns="0" rIns="0" bIns="0" rtlCol="0" anchor="t"/>
            <a:lstStyle/>
            <a:p>
              <a:pPr algn="l">
                <a:lnSpc>
                  <a:spcPts val="3240"/>
                </a:lnSpc>
              </a:pPr>
              <a:r>
                <a:rPr lang="en-US" sz="2700" b="1">
                  <a:solidFill>
                    <a:srgbClr val="000000"/>
                  </a:solidFill>
                  <a:latin typeface="Arimo Bold"/>
                  <a:ea typeface="Arimo Bold"/>
                  <a:cs typeface="Arimo Bold"/>
                  <a:sym typeface="Arimo Bold"/>
                </a:rPr>
                <a:t>Abstract:</a:t>
              </a:r>
            </a:p>
            <a:p>
              <a:pPr algn="just">
                <a:lnSpc>
                  <a:spcPts val="3240"/>
                </a:lnSpc>
              </a:pPr>
              <a:r>
                <a:rPr lang="en-US" sz="2700">
                  <a:solidFill>
                    <a:srgbClr val="292929"/>
                  </a:solidFill>
                  <a:latin typeface="Arimo"/>
                  <a:ea typeface="Arimo"/>
                  <a:cs typeface="Arimo"/>
                  <a:sym typeface="Arimo"/>
                </a:rPr>
                <a:t>Natural Language Processing (NLP) aims to analyze text or speech via techniques in the computer science field</a:t>
              </a:r>
            </a:p>
          </p:txBody>
        </p:sp>
      </p:grpSp>
      <p:grpSp>
        <p:nvGrpSpPr>
          <p:cNvPr id="11" name="Group 11"/>
          <p:cNvGrpSpPr/>
          <p:nvPr/>
        </p:nvGrpSpPr>
        <p:grpSpPr>
          <a:xfrm>
            <a:off x="662940" y="5640552"/>
            <a:ext cx="9159240" cy="3462486"/>
            <a:chOff x="0" y="0"/>
            <a:chExt cx="12212320" cy="4616648"/>
          </a:xfrm>
        </p:grpSpPr>
        <p:sp>
          <p:nvSpPr>
            <p:cNvPr id="12" name="Freeform 12"/>
            <p:cNvSpPr/>
            <p:nvPr/>
          </p:nvSpPr>
          <p:spPr>
            <a:xfrm>
              <a:off x="0" y="0"/>
              <a:ext cx="12212320" cy="4616648"/>
            </a:xfrm>
            <a:custGeom>
              <a:avLst/>
              <a:gdLst/>
              <a:ahLst/>
              <a:cxnLst/>
              <a:rect l="l" t="t" r="r" b="b"/>
              <a:pathLst>
                <a:path w="12212320" h="4616648">
                  <a:moveTo>
                    <a:pt x="0" y="0"/>
                  </a:moveTo>
                  <a:lnTo>
                    <a:pt x="12212320" y="0"/>
                  </a:lnTo>
                  <a:lnTo>
                    <a:pt x="12212320" y="4616648"/>
                  </a:lnTo>
                  <a:lnTo>
                    <a:pt x="0" y="4616648"/>
                  </a:lnTo>
                  <a:close/>
                </a:path>
              </a:pathLst>
            </a:custGeom>
            <a:solidFill>
              <a:srgbClr val="000000">
                <a:alpha val="0"/>
              </a:srgbClr>
            </a:solidFill>
          </p:spPr>
        </p:sp>
        <p:sp>
          <p:nvSpPr>
            <p:cNvPr id="13" name="TextBox 13"/>
            <p:cNvSpPr txBox="1"/>
            <p:nvPr/>
          </p:nvSpPr>
          <p:spPr>
            <a:xfrm>
              <a:off x="0" y="-19050"/>
              <a:ext cx="12212320" cy="4635698"/>
            </a:xfrm>
            <a:prstGeom prst="rect">
              <a:avLst/>
            </a:prstGeom>
          </p:spPr>
          <p:txBody>
            <a:bodyPr lIns="0" tIns="0" rIns="0" bIns="0" rtlCol="0" anchor="t"/>
            <a:lstStyle/>
            <a:p>
              <a:pPr algn="l">
                <a:lnSpc>
                  <a:spcPts val="3240"/>
                </a:lnSpc>
              </a:pPr>
              <a:r>
                <a:rPr lang="en-US" sz="2700" b="1">
                  <a:solidFill>
                    <a:srgbClr val="292929"/>
                  </a:solidFill>
                  <a:latin typeface="Arimo Bold"/>
                  <a:ea typeface="Arimo Bold"/>
                  <a:cs typeface="Arimo Bold"/>
                  <a:sym typeface="Arimo Bold"/>
                </a:rPr>
                <a:t>Introduction:</a:t>
              </a:r>
            </a:p>
            <a:p>
              <a:pPr algn="just">
                <a:lnSpc>
                  <a:spcPts val="3240"/>
                </a:lnSpc>
              </a:pPr>
              <a:r>
                <a:rPr lang="en-US" sz="2700">
                  <a:solidFill>
                    <a:srgbClr val="292929"/>
                  </a:solidFill>
                  <a:latin typeface="Arimo"/>
                  <a:ea typeface="Arimo"/>
                  <a:cs typeface="Arimo"/>
                  <a:sym typeface="Arimo"/>
                </a:rPr>
                <a:t>Natural Language Processing (NLP) refers to the branch of computer science, that empowers computers the ability to understand text and spoken words as the way human beings can. It serves real-world scenarios. For example, NLP can help in </a:t>
              </a:r>
              <a:r>
                <a:rPr lang="en-US" sz="2700" i="1">
                  <a:solidFill>
                    <a:srgbClr val="292929"/>
                  </a:solidFill>
                  <a:latin typeface="Arimo Italics"/>
                  <a:ea typeface="Arimo Italics"/>
                  <a:cs typeface="Arimo Italics"/>
                  <a:sym typeface="Arimo Italics"/>
                </a:rPr>
                <a:t>healthcare</a:t>
              </a:r>
              <a:r>
                <a:rPr lang="en-US" sz="2700">
                  <a:solidFill>
                    <a:srgbClr val="292929"/>
                  </a:solidFill>
                  <a:latin typeface="Arimo"/>
                  <a:ea typeface="Arimo"/>
                  <a:cs typeface="Arimo"/>
                  <a:sym typeface="Arimo"/>
                </a:rPr>
                <a:t> applications. A wide range of NLP techniques are being utilized to anticipate the treatment process of the patients.</a:t>
              </a:r>
            </a:p>
          </p:txBody>
        </p:sp>
      </p:grpSp>
      <p:grpSp>
        <p:nvGrpSpPr>
          <p:cNvPr id="14" name="Group 14"/>
          <p:cNvGrpSpPr/>
          <p:nvPr/>
        </p:nvGrpSpPr>
        <p:grpSpPr>
          <a:xfrm>
            <a:off x="9997440" y="3521363"/>
            <a:ext cx="9159240" cy="553998"/>
            <a:chOff x="0" y="0"/>
            <a:chExt cx="12212320" cy="738664"/>
          </a:xfrm>
        </p:grpSpPr>
        <p:sp>
          <p:nvSpPr>
            <p:cNvPr id="15" name="Freeform 15"/>
            <p:cNvSpPr/>
            <p:nvPr/>
          </p:nvSpPr>
          <p:spPr>
            <a:xfrm>
              <a:off x="0" y="0"/>
              <a:ext cx="12212320" cy="738664"/>
            </a:xfrm>
            <a:custGeom>
              <a:avLst/>
              <a:gdLst/>
              <a:ahLst/>
              <a:cxnLst/>
              <a:rect l="l" t="t" r="r" b="b"/>
              <a:pathLst>
                <a:path w="12212320" h="738664">
                  <a:moveTo>
                    <a:pt x="0" y="0"/>
                  </a:moveTo>
                  <a:lnTo>
                    <a:pt x="12212320" y="0"/>
                  </a:lnTo>
                  <a:lnTo>
                    <a:pt x="12212320" y="738664"/>
                  </a:lnTo>
                  <a:lnTo>
                    <a:pt x="0" y="738664"/>
                  </a:lnTo>
                  <a:close/>
                </a:path>
              </a:pathLst>
            </a:custGeom>
            <a:solidFill>
              <a:srgbClr val="000000">
                <a:alpha val="0"/>
              </a:srgbClr>
            </a:solidFill>
          </p:spPr>
        </p:sp>
        <p:sp>
          <p:nvSpPr>
            <p:cNvPr id="16" name="TextBox 16"/>
            <p:cNvSpPr txBox="1"/>
            <p:nvPr/>
          </p:nvSpPr>
          <p:spPr>
            <a:xfrm>
              <a:off x="0" y="-19050"/>
              <a:ext cx="12212320" cy="757714"/>
            </a:xfrm>
            <a:prstGeom prst="rect">
              <a:avLst/>
            </a:prstGeom>
          </p:spPr>
          <p:txBody>
            <a:bodyPr lIns="0" tIns="0" rIns="0" bIns="0" rtlCol="0" anchor="t"/>
            <a:lstStyle/>
            <a:p>
              <a:pPr algn="l">
                <a:lnSpc>
                  <a:spcPts val="3240"/>
                </a:lnSpc>
              </a:pPr>
              <a:r>
                <a:rPr lang="en-US" sz="2700" b="1">
                  <a:solidFill>
                    <a:srgbClr val="292929"/>
                  </a:solidFill>
                  <a:latin typeface="Arimo Bold"/>
                  <a:ea typeface="Arimo Bold"/>
                  <a:cs typeface="Arimo Bold"/>
                  <a:sym typeface="Arimo Bold"/>
                </a:rPr>
                <a:t>Review of Techniques:</a:t>
              </a:r>
            </a:p>
          </p:txBody>
        </p:sp>
      </p:grpSp>
      <p:sp>
        <p:nvSpPr>
          <p:cNvPr id="17" name="Freeform 17"/>
          <p:cNvSpPr/>
          <p:nvPr/>
        </p:nvSpPr>
        <p:spPr>
          <a:xfrm>
            <a:off x="9821144" y="4075360"/>
            <a:ext cx="7430537" cy="5687218"/>
          </a:xfrm>
          <a:custGeom>
            <a:avLst/>
            <a:gdLst/>
            <a:ahLst/>
            <a:cxnLst/>
            <a:rect l="l" t="t" r="r" b="b"/>
            <a:pathLst>
              <a:path w="7430537" h="5687218">
                <a:moveTo>
                  <a:pt x="0" y="0"/>
                </a:moveTo>
                <a:lnTo>
                  <a:pt x="7430536" y="0"/>
                </a:lnTo>
                <a:lnTo>
                  <a:pt x="7430536" y="5687219"/>
                </a:lnTo>
                <a:lnTo>
                  <a:pt x="0" y="5687219"/>
                </a:lnTo>
                <a:lnTo>
                  <a:pt x="0" y="0"/>
                </a:lnTo>
                <a:close/>
              </a:path>
            </a:pathLst>
          </a:custGeom>
          <a:blipFill>
            <a:blip r:embed="rId2"/>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FF2CC"/>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Literature Review</a:t>
              </a:r>
            </a:p>
          </p:txBody>
        </p:sp>
      </p:grpSp>
      <p:grpSp>
        <p:nvGrpSpPr>
          <p:cNvPr id="5" name="Group 5"/>
          <p:cNvGrpSpPr/>
          <p:nvPr/>
        </p:nvGrpSpPr>
        <p:grpSpPr>
          <a:xfrm>
            <a:off x="1171575" y="2414588"/>
            <a:ext cx="16159296" cy="6699231"/>
            <a:chOff x="0" y="0"/>
            <a:chExt cx="21545728" cy="8932308"/>
          </a:xfrm>
        </p:grpSpPr>
        <p:sp>
          <p:nvSpPr>
            <p:cNvPr id="6" name="Freeform 6"/>
            <p:cNvSpPr/>
            <p:nvPr/>
          </p:nvSpPr>
          <p:spPr>
            <a:xfrm>
              <a:off x="0" y="0"/>
              <a:ext cx="21545728" cy="8932308"/>
            </a:xfrm>
            <a:custGeom>
              <a:avLst/>
              <a:gdLst/>
              <a:ahLst/>
              <a:cxnLst/>
              <a:rect l="l" t="t" r="r" b="b"/>
              <a:pathLst>
                <a:path w="21545728" h="8932308">
                  <a:moveTo>
                    <a:pt x="0" y="0"/>
                  </a:moveTo>
                  <a:lnTo>
                    <a:pt x="21545728" y="0"/>
                  </a:lnTo>
                  <a:lnTo>
                    <a:pt x="21545728" y="8932308"/>
                  </a:lnTo>
                  <a:lnTo>
                    <a:pt x="0" y="8932308"/>
                  </a:lnTo>
                  <a:close/>
                </a:path>
              </a:pathLst>
            </a:custGeom>
            <a:solidFill>
              <a:srgbClr val="000000">
                <a:alpha val="0"/>
              </a:srgbClr>
            </a:solidFill>
          </p:spPr>
        </p:sp>
        <p:sp>
          <p:nvSpPr>
            <p:cNvPr id="7" name="TextBox 7"/>
            <p:cNvSpPr txBox="1"/>
            <p:nvPr/>
          </p:nvSpPr>
          <p:spPr>
            <a:xfrm>
              <a:off x="0" y="-76200"/>
              <a:ext cx="21545728" cy="9008508"/>
            </a:xfrm>
            <a:prstGeom prst="rect">
              <a:avLst/>
            </a:prstGeom>
          </p:spPr>
          <p:txBody>
            <a:bodyPr lIns="0" tIns="0" rIns="0" bIns="0" rtlCol="0" anchor="t"/>
            <a:lstStyle/>
            <a:p>
              <a:pPr algn="l">
                <a:lnSpc>
                  <a:spcPts val="4680"/>
                </a:lnSpc>
              </a:pPr>
              <a:r>
                <a:rPr lang="en-US" sz="3900" b="1">
                  <a:solidFill>
                    <a:srgbClr val="000000"/>
                  </a:solidFill>
                  <a:latin typeface="Calibri (MS) Bold"/>
                  <a:ea typeface="Calibri (MS) Bold"/>
                  <a:cs typeface="Calibri (MS) Bold"/>
                  <a:sym typeface="Calibri (MS) Bold"/>
                </a:rPr>
                <a:t>Voice Recognition Technology</a:t>
              </a:r>
            </a:p>
            <a:p>
              <a:pPr marL="705802" lvl="1" indent="-352901" algn="l">
                <a:lnSpc>
                  <a:spcPts val="4680"/>
                </a:lnSpc>
                <a:buFont typeface="Arial"/>
                <a:buChar char="•"/>
              </a:pPr>
              <a:r>
                <a:rPr lang="en-US" sz="3900" b="1">
                  <a:solidFill>
                    <a:srgbClr val="000000"/>
                  </a:solidFill>
                  <a:latin typeface="Calibri (MS) Bold"/>
                  <a:ea typeface="Calibri (MS) Bold"/>
                  <a:cs typeface="Calibri (MS) Bold"/>
                  <a:sym typeface="Calibri (MS) Bold"/>
                </a:rPr>
                <a:t>Research Paper Title:</a:t>
              </a:r>
              <a:r>
                <a:rPr lang="en-US" sz="3900">
                  <a:solidFill>
                    <a:srgbClr val="000000"/>
                  </a:solidFill>
                  <a:latin typeface="Calibri (MS)"/>
                  <a:ea typeface="Calibri (MS)"/>
                  <a:cs typeface="Calibri (MS)"/>
                  <a:sym typeface="Calibri (MS)"/>
                </a:rPr>
                <a:t> "A Comparative Study of Speech Recognition Techniques"</a:t>
              </a:r>
            </a:p>
            <a:p>
              <a:pPr marL="705802" lvl="1" indent="-352901" algn="l">
                <a:lnSpc>
                  <a:spcPts val="4680"/>
                </a:lnSpc>
                <a:buFont typeface="Arial"/>
                <a:buChar char="•"/>
              </a:pPr>
              <a:r>
                <a:rPr lang="en-US" sz="3900" b="1">
                  <a:solidFill>
                    <a:srgbClr val="000000"/>
                  </a:solidFill>
                  <a:latin typeface="Calibri (MS) Bold"/>
                  <a:ea typeface="Calibri (MS) Bold"/>
                  <a:cs typeface="Calibri (MS) Bold"/>
                  <a:sym typeface="Calibri (MS) Bold"/>
                </a:rPr>
                <a:t>Summary:</a:t>
              </a:r>
            </a:p>
            <a:p>
              <a:pPr marL="705802" lvl="1" indent="-352901" algn="l">
                <a:lnSpc>
                  <a:spcPts val="4680"/>
                </a:lnSpc>
              </a:pPr>
              <a:r>
                <a:rPr lang="en-US" sz="3900">
                  <a:solidFill>
                    <a:srgbClr val="000000"/>
                  </a:solidFill>
                  <a:latin typeface="Calibri (MS)"/>
                  <a:ea typeface="Calibri (MS)"/>
                  <a:cs typeface="Calibri (MS)"/>
                  <a:sym typeface="Calibri (MS)"/>
                </a:rPr>
                <a:t>"This paper compares different ways to convert speech into text, which is exactly what we’re doing with the VC02 module in my project. The paper talks about how some systems, like the one we’re using, process voice commands offline, meaning they don’t need internet access to understand basic commands. That’s helpful because it ensures faster responses and works well when there’s no internet. It’s a beneficial educational tools where kids need quick answers without waiting for long processing times."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FF2CC"/>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Literature Review</a:t>
              </a:r>
            </a:p>
          </p:txBody>
        </p:sp>
      </p:grpSp>
      <p:grpSp>
        <p:nvGrpSpPr>
          <p:cNvPr id="5" name="Group 5"/>
          <p:cNvGrpSpPr/>
          <p:nvPr/>
        </p:nvGrpSpPr>
        <p:grpSpPr>
          <a:xfrm>
            <a:off x="1230594" y="2373512"/>
            <a:ext cx="16100277" cy="7248138"/>
            <a:chOff x="0" y="0"/>
            <a:chExt cx="21467036" cy="9664184"/>
          </a:xfrm>
        </p:grpSpPr>
        <p:sp>
          <p:nvSpPr>
            <p:cNvPr id="6" name="Freeform 6"/>
            <p:cNvSpPr/>
            <p:nvPr/>
          </p:nvSpPr>
          <p:spPr>
            <a:xfrm>
              <a:off x="0" y="0"/>
              <a:ext cx="21467035" cy="9664184"/>
            </a:xfrm>
            <a:custGeom>
              <a:avLst/>
              <a:gdLst/>
              <a:ahLst/>
              <a:cxnLst/>
              <a:rect l="l" t="t" r="r" b="b"/>
              <a:pathLst>
                <a:path w="21467035" h="9664184">
                  <a:moveTo>
                    <a:pt x="0" y="0"/>
                  </a:moveTo>
                  <a:lnTo>
                    <a:pt x="21467035" y="0"/>
                  </a:lnTo>
                  <a:lnTo>
                    <a:pt x="21467035" y="9664184"/>
                  </a:lnTo>
                  <a:lnTo>
                    <a:pt x="0" y="9664184"/>
                  </a:lnTo>
                  <a:close/>
                </a:path>
              </a:pathLst>
            </a:custGeom>
            <a:solidFill>
              <a:srgbClr val="000000">
                <a:alpha val="0"/>
              </a:srgbClr>
            </a:solidFill>
          </p:spPr>
        </p:sp>
        <p:sp>
          <p:nvSpPr>
            <p:cNvPr id="7" name="TextBox 7"/>
            <p:cNvSpPr txBox="1"/>
            <p:nvPr/>
          </p:nvSpPr>
          <p:spPr>
            <a:xfrm>
              <a:off x="0" y="-85725"/>
              <a:ext cx="21467036" cy="9749909"/>
            </a:xfrm>
            <a:prstGeom prst="rect">
              <a:avLst/>
            </a:prstGeom>
          </p:spPr>
          <p:txBody>
            <a:bodyPr lIns="0" tIns="0" rIns="0" bIns="0" rtlCol="0" anchor="t"/>
            <a:lstStyle/>
            <a:p>
              <a:pPr algn="l">
                <a:lnSpc>
                  <a:spcPts val="5040"/>
                </a:lnSpc>
              </a:pPr>
              <a:r>
                <a:rPr lang="en-US" sz="4200" b="1">
                  <a:solidFill>
                    <a:srgbClr val="000000"/>
                  </a:solidFill>
                  <a:latin typeface="Calibri (MS) Bold"/>
                  <a:ea typeface="Calibri (MS) Bold"/>
                  <a:cs typeface="Calibri (MS) Bold"/>
                  <a:sym typeface="Calibri (MS) Bold"/>
                </a:rPr>
                <a:t>AI in Education Systems</a:t>
              </a:r>
            </a:p>
            <a:p>
              <a:pPr algn="l">
                <a:lnSpc>
                  <a:spcPts val="5040"/>
                </a:lnSpc>
              </a:pPr>
              <a:r>
                <a:rPr lang="en-US" sz="4200" b="1">
                  <a:solidFill>
                    <a:srgbClr val="000000"/>
                  </a:solidFill>
                  <a:latin typeface="Calibri (MS) Bold"/>
                  <a:ea typeface="Calibri (MS) Bold"/>
                  <a:cs typeface="Calibri (MS) Bold"/>
                  <a:sym typeface="Calibri (MS) Bold"/>
                </a:rPr>
                <a:t>Research Paper Title:</a:t>
              </a:r>
              <a:r>
                <a:rPr lang="en-US" sz="4200">
                  <a:solidFill>
                    <a:srgbClr val="000000"/>
                  </a:solidFill>
                  <a:latin typeface="Calibri (MS)"/>
                  <a:ea typeface="Calibri (MS)"/>
                  <a:cs typeface="Calibri (MS)"/>
                  <a:sym typeface="Calibri (MS)"/>
                </a:rPr>
                <a:t> "Artificial Intelligence in Education: Promises and Challenges"</a:t>
              </a:r>
            </a:p>
            <a:p>
              <a:pPr algn="l">
                <a:lnSpc>
                  <a:spcPts val="5040"/>
                </a:lnSpc>
              </a:pPr>
              <a:r>
                <a:rPr lang="en-US" sz="4200" b="1">
                  <a:solidFill>
                    <a:srgbClr val="000000"/>
                  </a:solidFill>
                  <a:latin typeface="Calibri (MS) Bold"/>
                  <a:ea typeface="Calibri (MS) Bold"/>
                  <a:cs typeface="Calibri (MS) Bold"/>
                  <a:sym typeface="Calibri (MS) Bold"/>
                </a:rPr>
                <a:t>Summary:</a:t>
              </a:r>
            </a:p>
            <a:p>
              <a:pPr algn="l">
                <a:lnSpc>
                  <a:spcPts val="5040"/>
                </a:lnSpc>
              </a:pPr>
              <a:r>
                <a:rPr lang="en-US" sz="4200">
                  <a:solidFill>
                    <a:srgbClr val="000000"/>
                  </a:solidFill>
                  <a:latin typeface="Calibri (MS)"/>
                  <a:ea typeface="Calibri (MS)"/>
                  <a:cs typeface="Calibri (MS)"/>
                  <a:sym typeface="Calibri (MS)"/>
                </a:rPr>
                <a:t>"This paper is all about how AI is changing the way we teach and learn. It highlights how virtual assistants and AI chatbots can help students by answering their questions and guiding them through lessons—exactly what my project is doing. In our case, the ChatGPT API acts as the ‘brain’ of the robot, helping kids get answers to their questions in a conversational way. It shows how tools like these can make learning more interactive and personalized."</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FF2CC"/>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Project Design </a:t>
              </a:r>
            </a:p>
          </p:txBody>
        </p:sp>
      </p:grpSp>
      <p:grpSp>
        <p:nvGrpSpPr>
          <p:cNvPr id="5" name="Group 5"/>
          <p:cNvGrpSpPr/>
          <p:nvPr/>
        </p:nvGrpSpPr>
        <p:grpSpPr>
          <a:xfrm>
            <a:off x="416690" y="1823013"/>
            <a:ext cx="16980060" cy="7478970"/>
            <a:chOff x="0" y="0"/>
            <a:chExt cx="22640080" cy="9971960"/>
          </a:xfrm>
        </p:grpSpPr>
        <p:sp>
          <p:nvSpPr>
            <p:cNvPr id="6" name="Freeform 6"/>
            <p:cNvSpPr/>
            <p:nvPr/>
          </p:nvSpPr>
          <p:spPr>
            <a:xfrm>
              <a:off x="0" y="0"/>
              <a:ext cx="22640080" cy="9971960"/>
            </a:xfrm>
            <a:custGeom>
              <a:avLst/>
              <a:gdLst/>
              <a:ahLst/>
              <a:cxnLst/>
              <a:rect l="l" t="t" r="r" b="b"/>
              <a:pathLst>
                <a:path w="22640080" h="9971960">
                  <a:moveTo>
                    <a:pt x="0" y="0"/>
                  </a:moveTo>
                  <a:lnTo>
                    <a:pt x="22640080" y="0"/>
                  </a:lnTo>
                  <a:lnTo>
                    <a:pt x="22640080" y="9971960"/>
                  </a:lnTo>
                  <a:lnTo>
                    <a:pt x="0" y="9971960"/>
                  </a:lnTo>
                  <a:close/>
                </a:path>
              </a:pathLst>
            </a:custGeom>
            <a:solidFill>
              <a:srgbClr val="000000">
                <a:alpha val="0"/>
              </a:srgbClr>
            </a:solidFill>
          </p:spPr>
        </p:sp>
        <p:sp>
          <p:nvSpPr>
            <p:cNvPr id="7" name="TextBox 7"/>
            <p:cNvSpPr txBox="1"/>
            <p:nvPr/>
          </p:nvSpPr>
          <p:spPr>
            <a:xfrm>
              <a:off x="0" y="-114300"/>
              <a:ext cx="22640080" cy="10086260"/>
            </a:xfrm>
            <a:prstGeom prst="rect">
              <a:avLst/>
            </a:prstGeom>
          </p:spPr>
          <p:txBody>
            <a:bodyPr lIns="0" tIns="0" rIns="0" bIns="0" rtlCol="0" anchor="t"/>
            <a:lstStyle/>
            <a:p>
              <a:pPr algn="l">
                <a:lnSpc>
                  <a:spcPts val="6480"/>
                </a:lnSpc>
              </a:pPr>
              <a:r>
                <a:rPr lang="en-US" sz="5400" b="1">
                  <a:solidFill>
                    <a:srgbClr val="000000"/>
                  </a:solidFill>
                  <a:latin typeface="Calibri (MS) Bold"/>
                  <a:ea typeface="Calibri (MS) Bold"/>
                  <a:cs typeface="Calibri (MS) Bold"/>
                  <a:sym typeface="Calibri (MS) Bold"/>
                </a:rPr>
                <a:t>Input and Processing:</a:t>
              </a:r>
            </a:p>
            <a:p>
              <a:pPr algn="l">
                <a:lnSpc>
                  <a:spcPts val="5040"/>
                </a:lnSpc>
              </a:pPr>
              <a:endParaRPr lang="en-US" sz="5400" b="1">
                <a:solidFill>
                  <a:srgbClr val="000000"/>
                </a:solidFill>
                <a:latin typeface="Calibri (MS) Bold"/>
                <a:ea typeface="Calibri (MS) Bold"/>
                <a:cs typeface="Calibri (MS) Bold"/>
                <a:sym typeface="Calibri (MS) Bold"/>
              </a:endParaRPr>
            </a:p>
            <a:p>
              <a:pPr marL="760095" lvl="1" indent="-380048" algn="l">
                <a:lnSpc>
                  <a:spcPts val="5040"/>
                </a:lnSpc>
                <a:buFont typeface="Arial"/>
                <a:buChar char="•"/>
              </a:pPr>
              <a:r>
                <a:rPr lang="en-US" sz="4200" b="1">
                  <a:solidFill>
                    <a:srgbClr val="000000"/>
                  </a:solidFill>
                  <a:latin typeface="Calibri (MS) Bold"/>
                  <a:ea typeface="Calibri (MS) Bold"/>
                  <a:cs typeface="Calibri (MS) Bold"/>
                  <a:sym typeface="Calibri (MS) Bold"/>
                </a:rPr>
                <a:t>Microphone:</a:t>
              </a:r>
              <a:r>
                <a:rPr lang="en-US" sz="4200">
                  <a:solidFill>
                    <a:srgbClr val="000000"/>
                  </a:solidFill>
                  <a:latin typeface="Calibri (MS)"/>
                  <a:ea typeface="Calibri (MS)"/>
                  <a:cs typeface="Calibri (MS)"/>
                  <a:sym typeface="Calibri (MS)"/>
                </a:rPr>
                <a:t> A highly sensitive microphone that converts analogue signal to digital signal. It is typically used in applications requiring high-quality audio capture.</a:t>
              </a:r>
            </a:p>
            <a:p>
              <a:pPr marL="760095" lvl="1" indent="-380048" algn="l">
                <a:lnSpc>
                  <a:spcPts val="5040"/>
                </a:lnSpc>
              </a:pPr>
              <a:endParaRPr lang="en-US" sz="4200">
                <a:solidFill>
                  <a:srgbClr val="000000"/>
                </a:solidFill>
                <a:latin typeface="Calibri (MS)"/>
                <a:ea typeface="Calibri (MS)"/>
                <a:cs typeface="Calibri (MS)"/>
                <a:sym typeface="Calibri (MS)"/>
              </a:endParaRPr>
            </a:p>
            <a:p>
              <a:pPr marL="760095" lvl="1" indent="-380048" algn="l">
                <a:lnSpc>
                  <a:spcPts val="5040"/>
                </a:lnSpc>
                <a:buFont typeface="Arial"/>
                <a:buChar char="•"/>
              </a:pPr>
              <a:r>
                <a:rPr lang="en-US" sz="4200" b="1">
                  <a:solidFill>
                    <a:srgbClr val="000000"/>
                  </a:solidFill>
                  <a:latin typeface="Calibri (MS) Bold"/>
                  <a:ea typeface="Calibri (MS) Bold"/>
                  <a:cs typeface="Calibri (MS) Bold"/>
                  <a:sym typeface="Calibri (MS) Bold"/>
                </a:rPr>
                <a:t>ESP32 Micro-controller:</a:t>
              </a:r>
              <a:r>
                <a:rPr lang="en-US" sz="4200">
                  <a:solidFill>
                    <a:srgbClr val="000000"/>
                  </a:solidFill>
                  <a:latin typeface="Calibri (MS)"/>
                  <a:ea typeface="Calibri (MS)"/>
                  <a:cs typeface="Calibri (MS)"/>
                  <a:sym typeface="Calibri (MS)"/>
                </a:rPr>
                <a:t> A powerful microcontroller with built-in Wi-Fi and Bluetooth capabilities. It serves as the brain of the robot, handling tasks such as processing audio data, communicating with other components, and executing the overall control logic.</a:t>
              </a:r>
            </a:p>
            <a:p>
              <a:pPr marL="760095" lvl="1" indent="-380048" algn="l">
                <a:lnSpc>
                  <a:spcPts val="5040"/>
                </a:lnSpc>
              </a:pPr>
              <a:endParaRPr lang="en-US" sz="4200">
                <a:solidFill>
                  <a:srgbClr val="000000"/>
                </a:solidFill>
                <a:latin typeface="Calibri (MS)"/>
                <a:ea typeface="Calibri (MS)"/>
                <a:cs typeface="Calibri (MS)"/>
                <a:sym typeface="Calibri (M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FF2CC"/>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Project Design </a:t>
              </a:r>
            </a:p>
          </p:txBody>
        </p:sp>
      </p:grpSp>
      <p:grpSp>
        <p:nvGrpSpPr>
          <p:cNvPr id="5" name="Group 5"/>
          <p:cNvGrpSpPr/>
          <p:nvPr/>
        </p:nvGrpSpPr>
        <p:grpSpPr>
          <a:xfrm>
            <a:off x="989636" y="2172567"/>
            <a:ext cx="14879256" cy="6786472"/>
            <a:chOff x="0" y="0"/>
            <a:chExt cx="19839008" cy="9048630"/>
          </a:xfrm>
        </p:grpSpPr>
        <p:sp>
          <p:nvSpPr>
            <p:cNvPr id="6" name="Freeform 6"/>
            <p:cNvSpPr/>
            <p:nvPr/>
          </p:nvSpPr>
          <p:spPr>
            <a:xfrm>
              <a:off x="0" y="0"/>
              <a:ext cx="19839008" cy="9048630"/>
            </a:xfrm>
            <a:custGeom>
              <a:avLst/>
              <a:gdLst/>
              <a:ahLst/>
              <a:cxnLst/>
              <a:rect l="l" t="t" r="r" b="b"/>
              <a:pathLst>
                <a:path w="19839008" h="9048630">
                  <a:moveTo>
                    <a:pt x="0" y="0"/>
                  </a:moveTo>
                  <a:lnTo>
                    <a:pt x="19839008" y="0"/>
                  </a:lnTo>
                  <a:lnTo>
                    <a:pt x="19839008" y="9048630"/>
                  </a:lnTo>
                  <a:lnTo>
                    <a:pt x="0" y="9048630"/>
                  </a:lnTo>
                  <a:close/>
                </a:path>
              </a:pathLst>
            </a:custGeom>
            <a:solidFill>
              <a:srgbClr val="000000">
                <a:alpha val="0"/>
              </a:srgbClr>
            </a:solidFill>
          </p:spPr>
        </p:sp>
        <p:sp>
          <p:nvSpPr>
            <p:cNvPr id="7" name="TextBox 7"/>
            <p:cNvSpPr txBox="1"/>
            <p:nvPr/>
          </p:nvSpPr>
          <p:spPr>
            <a:xfrm>
              <a:off x="0" y="-85725"/>
              <a:ext cx="19839008" cy="9134355"/>
            </a:xfrm>
            <a:prstGeom prst="rect">
              <a:avLst/>
            </a:prstGeom>
          </p:spPr>
          <p:txBody>
            <a:bodyPr lIns="0" tIns="0" rIns="0" bIns="0" rtlCol="0" anchor="ctr"/>
            <a:lstStyle/>
            <a:p>
              <a:pPr marL="760095" lvl="1" indent="-380048" algn="l">
                <a:lnSpc>
                  <a:spcPts val="5040"/>
                </a:lnSpc>
                <a:buFont typeface="Arial"/>
                <a:buChar char="•"/>
              </a:pPr>
              <a:r>
                <a:rPr lang="en-US" sz="4200" b="1">
                  <a:solidFill>
                    <a:srgbClr val="000000"/>
                  </a:solidFill>
                  <a:latin typeface="Arial Bold"/>
                  <a:ea typeface="Arial Bold"/>
                  <a:cs typeface="Arial Bold"/>
                  <a:sym typeface="Arial Bold"/>
                </a:rPr>
                <a:t>STT/Google Cloud Based STT:</a:t>
              </a:r>
              <a:r>
                <a:rPr lang="en-US" sz="4200">
                  <a:solidFill>
                    <a:srgbClr val="000000"/>
                  </a:solidFill>
                  <a:latin typeface="Arial"/>
                  <a:ea typeface="Arial"/>
                  <a:cs typeface="Arial"/>
                  <a:sym typeface="Arial"/>
                </a:rPr>
                <a:t> A cloud-based speech-to-text service that uses advanced algorithms to transcribe spoken language into text. It leverages machine learning expertise to achieve high accuracy. </a:t>
              </a:r>
            </a:p>
            <a:p>
              <a:pPr marL="760095" lvl="1" indent="-380048" algn="l">
                <a:lnSpc>
                  <a:spcPts val="5040"/>
                </a:lnSpc>
              </a:pPr>
              <a:endParaRPr lang="en-US" sz="4200">
                <a:solidFill>
                  <a:srgbClr val="000000"/>
                </a:solidFill>
                <a:latin typeface="Arial"/>
                <a:ea typeface="Arial"/>
                <a:cs typeface="Arial"/>
                <a:sym typeface="Arial"/>
              </a:endParaRPr>
            </a:p>
            <a:p>
              <a:pPr marL="760095" lvl="1" indent="-380048" algn="l">
                <a:lnSpc>
                  <a:spcPts val="5040"/>
                </a:lnSpc>
                <a:buFont typeface="Arial"/>
                <a:buChar char="•"/>
              </a:pPr>
              <a:r>
                <a:rPr lang="en-US" sz="4200" b="1">
                  <a:solidFill>
                    <a:srgbClr val="000000"/>
                  </a:solidFill>
                  <a:latin typeface="Arial Bold"/>
                  <a:ea typeface="Arial Bold"/>
                  <a:cs typeface="Arial Bold"/>
                  <a:sym typeface="Arial Bold"/>
                </a:rPr>
                <a:t>NLP:</a:t>
              </a:r>
              <a:r>
                <a:rPr lang="en-US" sz="4200">
                  <a:solidFill>
                    <a:srgbClr val="000000"/>
                  </a:solidFill>
                  <a:latin typeface="Arial"/>
                  <a:ea typeface="Arial"/>
                  <a:cs typeface="Arial"/>
                  <a:sym typeface="Arial"/>
                </a:rPr>
                <a:t> A field of artificial intelligence that deals with the interaction between computers and human (natural) languages. In this context, NLP algorithms are used to understand the meaning and context of the transcribed text, enabling the robot to respond appropriately.</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FF2CC"/>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Project Design </a:t>
              </a:r>
            </a:p>
          </p:txBody>
        </p:sp>
      </p:grpSp>
      <p:grpSp>
        <p:nvGrpSpPr>
          <p:cNvPr id="5" name="Group 5"/>
          <p:cNvGrpSpPr/>
          <p:nvPr/>
        </p:nvGrpSpPr>
        <p:grpSpPr>
          <a:xfrm>
            <a:off x="1258828" y="877688"/>
            <a:ext cx="15905400" cy="7709803"/>
            <a:chOff x="0" y="0"/>
            <a:chExt cx="21207200" cy="10279738"/>
          </a:xfrm>
        </p:grpSpPr>
        <p:sp>
          <p:nvSpPr>
            <p:cNvPr id="6" name="Freeform 6"/>
            <p:cNvSpPr/>
            <p:nvPr/>
          </p:nvSpPr>
          <p:spPr>
            <a:xfrm>
              <a:off x="0" y="0"/>
              <a:ext cx="21207200" cy="10279738"/>
            </a:xfrm>
            <a:custGeom>
              <a:avLst/>
              <a:gdLst/>
              <a:ahLst/>
              <a:cxnLst/>
              <a:rect l="l" t="t" r="r" b="b"/>
              <a:pathLst>
                <a:path w="21207200" h="10279738">
                  <a:moveTo>
                    <a:pt x="0" y="0"/>
                  </a:moveTo>
                  <a:lnTo>
                    <a:pt x="21207200" y="0"/>
                  </a:lnTo>
                  <a:lnTo>
                    <a:pt x="21207200" y="10279738"/>
                  </a:lnTo>
                  <a:lnTo>
                    <a:pt x="0" y="10279738"/>
                  </a:lnTo>
                  <a:close/>
                </a:path>
              </a:pathLst>
            </a:custGeom>
            <a:solidFill>
              <a:srgbClr val="000000">
                <a:alpha val="0"/>
              </a:srgbClr>
            </a:solidFill>
          </p:spPr>
        </p:sp>
        <p:sp>
          <p:nvSpPr>
            <p:cNvPr id="7" name="TextBox 7"/>
            <p:cNvSpPr txBox="1"/>
            <p:nvPr/>
          </p:nvSpPr>
          <p:spPr>
            <a:xfrm>
              <a:off x="0" y="-85725"/>
              <a:ext cx="21207200" cy="10365463"/>
            </a:xfrm>
            <a:prstGeom prst="rect">
              <a:avLst/>
            </a:prstGeom>
          </p:spPr>
          <p:txBody>
            <a:bodyPr lIns="0" tIns="0" rIns="0" bIns="0" rtlCol="0" anchor="ctr"/>
            <a:lstStyle/>
            <a:p>
              <a:pPr algn="l">
                <a:lnSpc>
                  <a:spcPts val="5759"/>
                </a:lnSpc>
              </a:pPr>
              <a:r>
                <a:rPr lang="en-US" sz="4800" b="1">
                  <a:solidFill>
                    <a:srgbClr val="000000"/>
                  </a:solidFill>
                  <a:latin typeface="Calibri (MS) Bold"/>
                  <a:ea typeface="Calibri (MS) Bold"/>
                  <a:cs typeface="Calibri (MS) Bold"/>
                  <a:sym typeface="Calibri (MS) Bold"/>
                </a:rPr>
                <a:t>Output Generation and Delivery:</a:t>
              </a:r>
            </a:p>
            <a:p>
              <a:pPr algn="l">
                <a:lnSpc>
                  <a:spcPts val="4320"/>
                </a:lnSpc>
              </a:pPr>
              <a:endParaRPr lang="en-US" sz="4800" b="1">
                <a:solidFill>
                  <a:srgbClr val="000000"/>
                </a:solidFill>
                <a:latin typeface="Calibri (MS) Bold"/>
                <a:ea typeface="Calibri (MS) Bold"/>
                <a:cs typeface="Calibri (MS) Bold"/>
                <a:sym typeface="Calibri (MS) Bold"/>
              </a:endParaRPr>
            </a:p>
            <a:p>
              <a:pPr marL="651510" lvl="1" indent="-325755" algn="l">
                <a:lnSpc>
                  <a:spcPts val="4320"/>
                </a:lnSpc>
                <a:buFont typeface="Arial"/>
                <a:buChar char="•"/>
              </a:pPr>
              <a:r>
                <a:rPr lang="en-US" sz="3600" b="1">
                  <a:solidFill>
                    <a:srgbClr val="000000"/>
                  </a:solidFill>
                  <a:latin typeface="Calibri (MS) Bold"/>
                  <a:ea typeface="Calibri (MS) Bold"/>
                  <a:cs typeface="Calibri (MS) Bold"/>
                  <a:sym typeface="Calibri (MS) Bold"/>
                </a:rPr>
                <a:t>Google Cloud TTS:</a:t>
              </a:r>
              <a:r>
                <a:rPr lang="en-US" sz="3600">
                  <a:solidFill>
                    <a:srgbClr val="000000"/>
                  </a:solidFill>
                  <a:latin typeface="Calibri (MS)"/>
                  <a:ea typeface="Calibri (MS)"/>
                  <a:cs typeface="Calibri (MS)"/>
                  <a:sym typeface="Calibri (MS)"/>
                </a:rPr>
                <a:t> A cloud-based text-to-speech service that converts text into human-like speech. It utilizes sophisticated voice synthesis techniques to produce natural-sounding audio.</a:t>
              </a:r>
            </a:p>
            <a:p>
              <a:pPr marL="651510" lvl="1" indent="-325755" algn="l">
                <a:lnSpc>
                  <a:spcPts val="4320"/>
                </a:lnSpc>
              </a:pPr>
              <a:endParaRPr lang="en-US" sz="3600">
                <a:solidFill>
                  <a:srgbClr val="000000"/>
                </a:solidFill>
                <a:latin typeface="Calibri (MS)"/>
                <a:ea typeface="Calibri (MS)"/>
                <a:cs typeface="Calibri (MS)"/>
                <a:sym typeface="Calibri (MS)"/>
              </a:endParaRPr>
            </a:p>
            <a:p>
              <a:pPr marL="651510" lvl="1" indent="-325755" algn="l">
                <a:lnSpc>
                  <a:spcPts val="4320"/>
                </a:lnSpc>
                <a:buFont typeface="Arial"/>
                <a:buChar char="•"/>
              </a:pPr>
              <a:r>
                <a:rPr lang="en-US" sz="3600" b="1">
                  <a:solidFill>
                    <a:srgbClr val="000000"/>
                  </a:solidFill>
                  <a:latin typeface="Calibri (MS) Bold"/>
                  <a:ea typeface="Calibri (MS) Bold"/>
                  <a:cs typeface="Calibri (MS) Bold"/>
                  <a:sym typeface="Calibri (MS) Bold"/>
                </a:rPr>
                <a:t>VCO2 Module:</a:t>
              </a:r>
              <a:r>
                <a:rPr lang="en-US" sz="3600">
                  <a:solidFill>
                    <a:srgbClr val="000000"/>
                  </a:solidFill>
                  <a:latin typeface="Calibri (MS)"/>
                  <a:ea typeface="Calibri (MS)"/>
                  <a:cs typeface="Calibri (MS)"/>
                  <a:sym typeface="Calibri (MS)"/>
                </a:rPr>
                <a:t> A specialized hardware or software component that can modify the synthesized speech to enhance its quality, naturalness, or expressiveness. It may involve techniques like speaker customization, noise reduction, or audio effects.</a:t>
              </a:r>
            </a:p>
            <a:p>
              <a:pPr marL="651510" lvl="1" indent="-325755" algn="l">
                <a:lnSpc>
                  <a:spcPts val="4320"/>
                </a:lnSpc>
              </a:pPr>
              <a:endParaRPr lang="en-US" sz="3600">
                <a:solidFill>
                  <a:srgbClr val="000000"/>
                </a:solidFill>
                <a:latin typeface="Calibri (MS)"/>
                <a:ea typeface="Calibri (MS)"/>
                <a:cs typeface="Calibri (MS)"/>
                <a:sym typeface="Calibri (MS)"/>
              </a:endParaRPr>
            </a:p>
            <a:p>
              <a:pPr marL="651510" lvl="1" indent="-325755" algn="l">
                <a:lnSpc>
                  <a:spcPts val="4320"/>
                </a:lnSpc>
                <a:buFont typeface="Arial"/>
                <a:buChar char="•"/>
              </a:pPr>
              <a:r>
                <a:rPr lang="en-US" sz="3600" b="1">
                  <a:solidFill>
                    <a:srgbClr val="000000"/>
                  </a:solidFill>
                  <a:latin typeface="Calibri (MS) Bold"/>
                  <a:ea typeface="Calibri (MS) Bold"/>
                  <a:cs typeface="Calibri (MS) Bold"/>
                  <a:sym typeface="Calibri (MS) Bold"/>
                </a:rPr>
                <a:t>Speaker : </a:t>
              </a:r>
              <a:r>
                <a:rPr lang="en-US" sz="3600">
                  <a:solidFill>
                    <a:srgbClr val="000000"/>
                  </a:solidFill>
                  <a:latin typeface="Calibri (MS)"/>
                  <a:ea typeface="Calibri (MS)"/>
                  <a:cs typeface="Calibri (MS)"/>
                  <a:sym typeface="Calibri (MS)"/>
                </a:rPr>
                <a:t>A loudspeaker that converts the amplified electrical signal into sound waves, producing the audible output.</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8CBAD"/>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Component selection(Platform/Software)</a:t>
              </a:r>
            </a:p>
          </p:txBody>
        </p:sp>
      </p:grpSp>
      <p:grpSp>
        <p:nvGrpSpPr>
          <p:cNvPr id="5" name="Group 5"/>
          <p:cNvGrpSpPr/>
          <p:nvPr/>
        </p:nvGrpSpPr>
        <p:grpSpPr>
          <a:xfrm>
            <a:off x="1886676" y="1803819"/>
            <a:ext cx="7655880" cy="1210196"/>
            <a:chOff x="0" y="0"/>
            <a:chExt cx="10207840" cy="1613595"/>
          </a:xfrm>
        </p:grpSpPr>
        <p:sp>
          <p:nvSpPr>
            <p:cNvPr id="6" name="Freeform 6"/>
            <p:cNvSpPr/>
            <p:nvPr/>
          </p:nvSpPr>
          <p:spPr>
            <a:xfrm>
              <a:off x="0" y="0"/>
              <a:ext cx="10207840" cy="1613595"/>
            </a:xfrm>
            <a:custGeom>
              <a:avLst/>
              <a:gdLst/>
              <a:ahLst/>
              <a:cxnLst/>
              <a:rect l="l" t="t" r="r" b="b"/>
              <a:pathLst>
                <a:path w="10207840" h="1613595">
                  <a:moveTo>
                    <a:pt x="0" y="0"/>
                  </a:moveTo>
                  <a:lnTo>
                    <a:pt x="10207840" y="0"/>
                  </a:lnTo>
                  <a:lnTo>
                    <a:pt x="10207840" y="1613595"/>
                  </a:lnTo>
                  <a:lnTo>
                    <a:pt x="0" y="1613595"/>
                  </a:lnTo>
                  <a:close/>
                </a:path>
              </a:pathLst>
            </a:custGeom>
            <a:solidFill>
              <a:srgbClr val="000000">
                <a:alpha val="0"/>
              </a:srgbClr>
            </a:solidFill>
          </p:spPr>
        </p:sp>
        <p:sp>
          <p:nvSpPr>
            <p:cNvPr id="7" name="TextBox 7"/>
            <p:cNvSpPr txBox="1"/>
            <p:nvPr/>
          </p:nvSpPr>
          <p:spPr>
            <a:xfrm>
              <a:off x="0" y="-123825"/>
              <a:ext cx="10207840" cy="1737420"/>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VCO2  (Primary Stage)</a:t>
              </a:r>
            </a:p>
          </p:txBody>
        </p:sp>
      </p:grpSp>
      <p:sp>
        <p:nvSpPr>
          <p:cNvPr id="8" name="Freeform 8" descr="Ai-Thinker VC-02-Kit | Best Offline Voice Recognition Board - techiesms"/>
          <p:cNvSpPr/>
          <p:nvPr/>
        </p:nvSpPr>
        <p:spPr>
          <a:xfrm>
            <a:off x="1066318" y="3139179"/>
            <a:ext cx="7180644" cy="6635641"/>
          </a:xfrm>
          <a:custGeom>
            <a:avLst/>
            <a:gdLst/>
            <a:ahLst/>
            <a:cxnLst/>
            <a:rect l="l" t="t" r="r" b="b"/>
            <a:pathLst>
              <a:path w="7180644" h="6635641">
                <a:moveTo>
                  <a:pt x="0" y="0"/>
                </a:moveTo>
                <a:lnTo>
                  <a:pt x="7180645" y="0"/>
                </a:lnTo>
                <a:lnTo>
                  <a:pt x="7180645" y="6635641"/>
                </a:lnTo>
                <a:lnTo>
                  <a:pt x="0" y="6635641"/>
                </a:lnTo>
                <a:lnTo>
                  <a:pt x="0" y="0"/>
                </a:lnTo>
                <a:close/>
              </a:path>
            </a:pathLst>
          </a:custGeom>
          <a:blipFill>
            <a:blip r:embed="rId2"/>
            <a:stretch>
              <a:fillRect b="-8213"/>
            </a:stretch>
          </a:blipFill>
        </p:spPr>
      </p:sp>
      <p:grpSp>
        <p:nvGrpSpPr>
          <p:cNvPr id="9" name="Group 9"/>
          <p:cNvGrpSpPr/>
          <p:nvPr/>
        </p:nvGrpSpPr>
        <p:grpSpPr>
          <a:xfrm>
            <a:off x="9542556" y="2996758"/>
            <a:ext cx="7800564" cy="3831818"/>
            <a:chOff x="0" y="0"/>
            <a:chExt cx="10400752" cy="5109090"/>
          </a:xfrm>
        </p:grpSpPr>
        <p:sp>
          <p:nvSpPr>
            <p:cNvPr id="10" name="Freeform 10"/>
            <p:cNvSpPr/>
            <p:nvPr/>
          </p:nvSpPr>
          <p:spPr>
            <a:xfrm>
              <a:off x="0" y="0"/>
              <a:ext cx="10400752" cy="5109090"/>
            </a:xfrm>
            <a:custGeom>
              <a:avLst/>
              <a:gdLst/>
              <a:ahLst/>
              <a:cxnLst/>
              <a:rect l="l" t="t" r="r" b="b"/>
              <a:pathLst>
                <a:path w="10400752" h="5109090">
                  <a:moveTo>
                    <a:pt x="0" y="0"/>
                  </a:moveTo>
                  <a:lnTo>
                    <a:pt x="10400752" y="0"/>
                  </a:lnTo>
                  <a:lnTo>
                    <a:pt x="10400752" y="5109090"/>
                  </a:lnTo>
                  <a:lnTo>
                    <a:pt x="0" y="5109090"/>
                  </a:lnTo>
                  <a:close/>
                </a:path>
              </a:pathLst>
            </a:custGeom>
            <a:solidFill>
              <a:srgbClr val="000000">
                <a:alpha val="0"/>
              </a:srgbClr>
            </a:solidFill>
          </p:spPr>
        </p:sp>
        <p:sp>
          <p:nvSpPr>
            <p:cNvPr id="11" name="TextBox 11"/>
            <p:cNvSpPr txBox="1"/>
            <p:nvPr/>
          </p:nvSpPr>
          <p:spPr>
            <a:xfrm>
              <a:off x="0" y="-123825"/>
              <a:ext cx="10400752" cy="5232915"/>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It is a sensor or communication module in embedded systems, IoT, or automation.</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76300"/>
            <a:chOff x="0" y="0"/>
            <a:chExt cx="24384000" cy="1568400"/>
          </a:xfrm>
        </p:grpSpPr>
        <p:sp>
          <p:nvSpPr>
            <p:cNvPr id="3" name="Freeform 3"/>
            <p:cNvSpPr/>
            <p:nvPr/>
          </p:nvSpPr>
          <p:spPr>
            <a:xfrm>
              <a:off x="0" y="0"/>
              <a:ext cx="24384000" cy="1568332"/>
            </a:xfrm>
            <a:custGeom>
              <a:avLst/>
              <a:gdLst/>
              <a:ahLst/>
              <a:cxnLst/>
              <a:rect l="l" t="t" r="r" b="b"/>
              <a:pathLst>
                <a:path w="24384000" h="1568332">
                  <a:moveTo>
                    <a:pt x="0" y="0"/>
                  </a:moveTo>
                  <a:lnTo>
                    <a:pt x="24384000" y="0"/>
                  </a:lnTo>
                  <a:lnTo>
                    <a:pt x="24384000" y="1568332"/>
                  </a:lnTo>
                  <a:lnTo>
                    <a:pt x="0" y="1568332"/>
                  </a:lnTo>
                  <a:close/>
                </a:path>
              </a:pathLst>
            </a:custGeom>
            <a:solidFill>
              <a:srgbClr val="DAE3F3"/>
            </a:solidFill>
          </p:spPr>
        </p:sp>
        <p:sp>
          <p:nvSpPr>
            <p:cNvPr id="4" name="TextBox 4"/>
            <p:cNvSpPr txBox="1"/>
            <p:nvPr/>
          </p:nvSpPr>
          <p:spPr>
            <a:xfrm>
              <a:off x="0" y="-28575"/>
              <a:ext cx="24384000" cy="1596975"/>
            </a:xfrm>
            <a:prstGeom prst="rect">
              <a:avLst/>
            </a:prstGeom>
          </p:spPr>
          <p:txBody>
            <a:bodyPr lIns="50800" tIns="50800" rIns="50800" bIns="50800" rtlCol="0" anchor="t"/>
            <a:lstStyle/>
            <a:p>
              <a:pPr algn="ctr">
                <a:lnSpc>
                  <a:spcPts val="6480"/>
                </a:lnSpc>
              </a:pPr>
              <a:r>
                <a:rPr lang="en-US" sz="5400" b="1">
                  <a:solidFill>
                    <a:srgbClr val="000000"/>
                  </a:solidFill>
                  <a:latin typeface="Arimo Bold"/>
                  <a:ea typeface="Arimo Bold"/>
                  <a:cs typeface="Arimo Bold"/>
                  <a:sym typeface="Arimo Bold"/>
                </a:rPr>
                <a:t>Circuit Diagram (Primary Stage)</a:t>
              </a:r>
            </a:p>
          </p:txBody>
        </p:sp>
      </p:grpSp>
      <p:sp>
        <p:nvSpPr>
          <p:cNvPr id="5" name="Freeform 5"/>
          <p:cNvSpPr/>
          <p:nvPr/>
        </p:nvSpPr>
        <p:spPr>
          <a:xfrm>
            <a:off x="4434838" y="1478397"/>
            <a:ext cx="10004735" cy="8397123"/>
          </a:xfrm>
          <a:custGeom>
            <a:avLst/>
            <a:gdLst/>
            <a:ahLst/>
            <a:cxnLst/>
            <a:rect l="l" t="t" r="r" b="b"/>
            <a:pathLst>
              <a:path w="10004735" h="8397123">
                <a:moveTo>
                  <a:pt x="0" y="0"/>
                </a:moveTo>
                <a:lnTo>
                  <a:pt x="10004735" y="0"/>
                </a:lnTo>
                <a:lnTo>
                  <a:pt x="10004735" y="8397123"/>
                </a:lnTo>
                <a:lnTo>
                  <a:pt x="0" y="8397123"/>
                </a:lnTo>
                <a:lnTo>
                  <a:pt x="0" y="0"/>
                </a:lnTo>
                <a:close/>
              </a:path>
            </a:pathLst>
          </a:custGeom>
          <a:blipFill>
            <a:blip r:embed="rId2"/>
            <a:stretch>
              <a:fillRect l="-2568" r="-2568"/>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39391"/>
            <a:chOff x="0" y="0"/>
            <a:chExt cx="24384000" cy="1652522"/>
          </a:xfrm>
        </p:grpSpPr>
        <p:sp>
          <p:nvSpPr>
            <p:cNvPr id="3" name="Freeform 3"/>
            <p:cNvSpPr/>
            <p:nvPr/>
          </p:nvSpPr>
          <p:spPr>
            <a:xfrm>
              <a:off x="0" y="0"/>
              <a:ext cx="24384000" cy="1652450"/>
            </a:xfrm>
            <a:custGeom>
              <a:avLst/>
              <a:gdLst/>
              <a:ahLst/>
              <a:cxnLst/>
              <a:rect l="l" t="t" r="r" b="b"/>
              <a:pathLst>
                <a:path w="24384000" h="1652450">
                  <a:moveTo>
                    <a:pt x="0" y="0"/>
                  </a:moveTo>
                  <a:lnTo>
                    <a:pt x="24384000" y="0"/>
                  </a:lnTo>
                  <a:lnTo>
                    <a:pt x="24384000" y="1652450"/>
                  </a:lnTo>
                  <a:lnTo>
                    <a:pt x="0" y="1652450"/>
                  </a:lnTo>
                  <a:close/>
                </a:path>
              </a:pathLst>
            </a:custGeom>
            <a:solidFill>
              <a:srgbClr val="DAE3F3"/>
            </a:solidFill>
          </p:spPr>
        </p:sp>
        <p:sp>
          <p:nvSpPr>
            <p:cNvPr id="4" name="TextBox 4"/>
            <p:cNvSpPr txBox="1"/>
            <p:nvPr/>
          </p:nvSpPr>
          <p:spPr>
            <a:xfrm>
              <a:off x="0" y="-28575"/>
              <a:ext cx="24384000" cy="1681097"/>
            </a:xfrm>
            <a:prstGeom prst="rect">
              <a:avLst/>
            </a:prstGeom>
          </p:spPr>
          <p:txBody>
            <a:bodyPr lIns="50800" tIns="50800" rIns="50800" bIns="50800" rtlCol="0" anchor="t"/>
            <a:lstStyle/>
            <a:p>
              <a:pPr algn="ctr">
                <a:lnSpc>
                  <a:spcPts val="6480"/>
                </a:lnSpc>
              </a:pPr>
              <a:r>
                <a:rPr lang="en-US" sz="5400" b="1">
                  <a:solidFill>
                    <a:srgbClr val="000000"/>
                  </a:solidFill>
                  <a:latin typeface="Arimo Bold"/>
                  <a:ea typeface="Arimo Bold"/>
                  <a:cs typeface="Arimo Bold"/>
                  <a:sym typeface="Arimo Bold"/>
                </a:rPr>
                <a:t>Circuit Diagram</a:t>
              </a:r>
            </a:p>
          </p:txBody>
        </p:sp>
      </p:grpSp>
      <p:sp>
        <p:nvSpPr>
          <p:cNvPr id="5" name="Freeform 5"/>
          <p:cNvSpPr/>
          <p:nvPr/>
        </p:nvSpPr>
        <p:spPr>
          <a:xfrm>
            <a:off x="3035670" y="2369830"/>
            <a:ext cx="12216660" cy="6888470"/>
          </a:xfrm>
          <a:custGeom>
            <a:avLst/>
            <a:gdLst/>
            <a:ahLst/>
            <a:cxnLst/>
            <a:rect l="l" t="t" r="r" b="b"/>
            <a:pathLst>
              <a:path w="12216660" h="6888470">
                <a:moveTo>
                  <a:pt x="0" y="0"/>
                </a:moveTo>
                <a:lnTo>
                  <a:pt x="12216660" y="0"/>
                </a:lnTo>
                <a:lnTo>
                  <a:pt x="12216660" y="6888470"/>
                </a:lnTo>
                <a:lnTo>
                  <a:pt x="0" y="6888470"/>
                </a:lnTo>
                <a:lnTo>
                  <a:pt x="0" y="0"/>
                </a:lnTo>
                <a:close/>
              </a:path>
            </a:pathLst>
          </a:custGeom>
          <a:blipFill>
            <a:blip r:embed="rId2"/>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5801"/>
            <a:ext cx="18288000" cy="1223391"/>
            <a:chOff x="0" y="0"/>
            <a:chExt cx="24384000" cy="1631188"/>
          </a:xfrm>
        </p:grpSpPr>
        <p:sp>
          <p:nvSpPr>
            <p:cNvPr id="3" name="Freeform 3"/>
            <p:cNvSpPr/>
            <p:nvPr/>
          </p:nvSpPr>
          <p:spPr>
            <a:xfrm>
              <a:off x="0" y="0"/>
              <a:ext cx="24384000" cy="1631188"/>
            </a:xfrm>
            <a:custGeom>
              <a:avLst/>
              <a:gdLst/>
              <a:ahLst/>
              <a:cxnLst/>
              <a:rect l="l" t="t" r="r" b="b"/>
              <a:pathLst>
                <a:path w="24384000" h="1631188">
                  <a:moveTo>
                    <a:pt x="0" y="0"/>
                  </a:moveTo>
                  <a:lnTo>
                    <a:pt x="24384000" y="0"/>
                  </a:lnTo>
                  <a:lnTo>
                    <a:pt x="24384000" y="1631188"/>
                  </a:lnTo>
                  <a:lnTo>
                    <a:pt x="0" y="1631188"/>
                  </a:lnTo>
                  <a:close/>
                </a:path>
              </a:pathLst>
            </a:custGeom>
            <a:solidFill>
              <a:srgbClr val="000000">
                <a:alpha val="0"/>
              </a:srgbClr>
            </a:solidFill>
          </p:spPr>
        </p:sp>
        <p:sp>
          <p:nvSpPr>
            <p:cNvPr id="4" name="TextBox 4"/>
            <p:cNvSpPr txBox="1"/>
            <p:nvPr/>
          </p:nvSpPr>
          <p:spPr>
            <a:xfrm>
              <a:off x="0" y="-57150"/>
              <a:ext cx="24384000" cy="1688338"/>
            </a:xfrm>
            <a:prstGeom prst="rect">
              <a:avLst/>
            </a:prstGeom>
          </p:spPr>
          <p:txBody>
            <a:bodyPr lIns="0" tIns="0" rIns="0" bIns="0" rtlCol="0" anchor="ctr"/>
            <a:lstStyle/>
            <a:p>
              <a:pPr algn="ctr">
                <a:lnSpc>
                  <a:spcPts val="7128"/>
                </a:lnSpc>
              </a:pPr>
              <a:r>
                <a:rPr lang="en-US" sz="6600">
                  <a:solidFill>
                    <a:srgbClr val="000000"/>
                  </a:solidFill>
                  <a:latin typeface="Arial"/>
                  <a:ea typeface="Arial"/>
                  <a:cs typeface="Arial"/>
                  <a:sym typeface="Arial"/>
                </a:rPr>
                <a:t>VC02 Programing </a:t>
              </a:r>
            </a:p>
          </p:txBody>
        </p:sp>
      </p:grpSp>
      <p:sp>
        <p:nvSpPr>
          <p:cNvPr id="5" name="Freeform 5"/>
          <p:cNvSpPr/>
          <p:nvPr/>
        </p:nvSpPr>
        <p:spPr>
          <a:xfrm>
            <a:off x="1148646" y="2571750"/>
            <a:ext cx="16505100" cy="7008756"/>
          </a:xfrm>
          <a:custGeom>
            <a:avLst/>
            <a:gdLst/>
            <a:ahLst/>
            <a:cxnLst/>
            <a:rect l="l" t="t" r="r" b="b"/>
            <a:pathLst>
              <a:path w="16505100" h="7008756">
                <a:moveTo>
                  <a:pt x="0" y="0"/>
                </a:moveTo>
                <a:lnTo>
                  <a:pt x="16505100" y="0"/>
                </a:lnTo>
                <a:lnTo>
                  <a:pt x="16505100" y="7008756"/>
                </a:lnTo>
                <a:lnTo>
                  <a:pt x="0" y="7008756"/>
                </a:lnTo>
                <a:lnTo>
                  <a:pt x="0" y="0"/>
                </a:lnTo>
                <a:close/>
              </a:path>
            </a:pathLst>
          </a:custGeom>
          <a:blipFill>
            <a:blip r:embed="rId2"/>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8CBAD"/>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Component selection(Platform/Software)</a:t>
              </a:r>
            </a:p>
          </p:txBody>
        </p:sp>
      </p:grpSp>
      <p:sp>
        <p:nvSpPr>
          <p:cNvPr id="5" name="Freeform 5" descr="Looking for schematic diagram for AZ-Delivery ESP32 module (the one with  the yellow rails). No luck at customer service (German language barrier?).  : r/esp32"/>
          <p:cNvSpPr/>
          <p:nvPr/>
        </p:nvSpPr>
        <p:spPr>
          <a:xfrm>
            <a:off x="509286" y="2787170"/>
            <a:ext cx="6522334" cy="5494518"/>
          </a:xfrm>
          <a:custGeom>
            <a:avLst/>
            <a:gdLst/>
            <a:ahLst/>
            <a:cxnLst/>
            <a:rect l="l" t="t" r="r" b="b"/>
            <a:pathLst>
              <a:path w="6522334" h="5494518">
                <a:moveTo>
                  <a:pt x="0" y="0"/>
                </a:moveTo>
                <a:lnTo>
                  <a:pt x="6522334" y="0"/>
                </a:lnTo>
                <a:lnTo>
                  <a:pt x="6522334" y="5494518"/>
                </a:lnTo>
                <a:lnTo>
                  <a:pt x="0" y="5494518"/>
                </a:lnTo>
                <a:lnTo>
                  <a:pt x="0" y="0"/>
                </a:lnTo>
                <a:close/>
              </a:path>
            </a:pathLst>
          </a:custGeom>
          <a:blipFill>
            <a:blip r:embed="rId2"/>
            <a:stretch>
              <a:fillRect r="-5096"/>
            </a:stretch>
          </a:blipFill>
        </p:spPr>
      </p:sp>
      <p:grpSp>
        <p:nvGrpSpPr>
          <p:cNvPr id="6" name="Group 6"/>
          <p:cNvGrpSpPr/>
          <p:nvPr/>
        </p:nvGrpSpPr>
        <p:grpSpPr>
          <a:xfrm>
            <a:off x="8194878" y="1875097"/>
            <a:ext cx="8299047" cy="5678478"/>
            <a:chOff x="0" y="0"/>
            <a:chExt cx="11065396" cy="7571304"/>
          </a:xfrm>
        </p:grpSpPr>
        <p:sp>
          <p:nvSpPr>
            <p:cNvPr id="7" name="Freeform 7"/>
            <p:cNvSpPr/>
            <p:nvPr/>
          </p:nvSpPr>
          <p:spPr>
            <a:xfrm>
              <a:off x="0" y="0"/>
              <a:ext cx="11065396" cy="7571304"/>
            </a:xfrm>
            <a:custGeom>
              <a:avLst/>
              <a:gdLst/>
              <a:ahLst/>
              <a:cxnLst/>
              <a:rect l="l" t="t" r="r" b="b"/>
              <a:pathLst>
                <a:path w="11065396" h="7571304">
                  <a:moveTo>
                    <a:pt x="0" y="0"/>
                  </a:moveTo>
                  <a:lnTo>
                    <a:pt x="11065396" y="0"/>
                  </a:lnTo>
                  <a:lnTo>
                    <a:pt x="11065396" y="7571304"/>
                  </a:lnTo>
                  <a:lnTo>
                    <a:pt x="0" y="7571304"/>
                  </a:lnTo>
                  <a:close/>
                </a:path>
              </a:pathLst>
            </a:custGeom>
            <a:solidFill>
              <a:srgbClr val="000000">
                <a:alpha val="0"/>
              </a:srgbClr>
            </a:solidFill>
          </p:spPr>
        </p:sp>
        <p:sp>
          <p:nvSpPr>
            <p:cNvPr id="8" name="TextBox 8"/>
            <p:cNvSpPr txBox="1"/>
            <p:nvPr/>
          </p:nvSpPr>
          <p:spPr>
            <a:xfrm>
              <a:off x="0" y="-123825"/>
              <a:ext cx="11065396" cy="7695129"/>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The ESP32 is a powerful and versatile microcontroller chip that is widely used in IoT and embedded systems applications.</a:t>
              </a:r>
            </a:p>
          </p:txBody>
        </p:sp>
      </p:grpSp>
      <p:grpSp>
        <p:nvGrpSpPr>
          <p:cNvPr id="9" name="Group 9"/>
          <p:cNvGrpSpPr/>
          <p:nvPr/>
        </p:nvGrpSpPr>
        <p:grpSpPr>
          <a:xfrm>
            <a:off x="2227732" y="1673252"/>
            <a:ext cx="3846436" cy="1061829"/>
            <a:chOff x="0" y="0"/>
            <a:chExt cx="5128582" cy="1415772"/>
          </a:xfrm>
        </p:grpSpPr>
        <p:sp>
          <p:nvSpPr>
            <p:cNvPr id="10" name="Freeform 10"/>
            <p:cNvSpPr/>
            <p:nvPr/>
          </p:nvSpPr>
          <p:spPr>
            <a:xfrm>
              <a:off x="0" y="0"/>
              <a:ext cx="5128582" cy="1415772"/>
            </a:xfrm>
            <a:custGeom>
              <a:avLst/>
              <a:gdLst/>
              <a:ahLst/>
              <a:cxnLst/>
              <a:rect l="l" t="t" r="r" b="b"/>
              <a:pathLst>
                <a:path w="5128582" h="1415772">
                  <a:moveTo>
                    <a:pt x="0" y="0"/>
                  </a:moveTo>
                  <a:lnTo>
                    <a:pt x="5128582" y="0"/>
                  </a:lnTo>
                  <a:lnTo>
                    <a:pt x="5128582" y="1415772"/>
                  </a:lnTo>
                  <a:lnTo>
                    <a:pt x="0" y="1415772"/>
                  </a:lnTo>
                  <a:close/>
                </a:path>
              </a:pathLst>
            </a:custGeom>
            <a:solidFill>
              <a:srgbClr val="000000">
                <a:alpha val="0"/>
              </a:srgbClr>
            </a:solidFill>
          </p:spPr>
        </p:sp>
        <p:sp>
          <p:nvSpPr>
            <p:cNvPr id="11" name="TextBox 11"/>
            <p:cNvSpPr txBox="1"/>
            <p:nvPr/>
          </p:nvSpPr>
          <p:spPr>
            <a:xfrm>
              <a:off x="0" y="-123825"/>
              <a:ext cx="5128582" cy="1539597"/>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ESP32</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19709"/>
            <a:chOff x="0" y="0"/>
            <a:chExt cx="24384000" cy="1892945"/>
          </a:xfrm>
        </p:grpSpPr>
        <p:sp>
          <p:nvSpPr>
            <p:cNvPr id="3" name="Freeform 3"/>
            <p:cNvSpPr/>
            <p:nvPr/>
          </p:nvSpPr>
          <p:spPr>
            <a:xfrm>
              <a:off x="0" y="0"/>
              <a:ext cx="24384000" cy="1892917"/>
            </a:xfrm>
            <a:custGeom>
              <a:avLst/>
              <a:gdLst/>
              <a:ahLst/>
              <a:cxnLst/>
              <a:rect l="l" t="t" r="r" b="b"/>
              <a:pathLst>
                <a:path w="24384000" h="1892917">
                  <a:moveTo>
                    <a:pt x="0" y="0"/>
                  </a:moveTo>
                  <a:lnTo>
                    <a:pt x="24384000" y="0"/>
                  </a:lnTo>
                  <a:lnTo>
                    <a:pt x="24384000" y="1892917"/>
                  </a:lnTo>
                  <a:lnTo>
                    <a:pt x="0" y="1892917"/>
                  </a:lnTo>
                  <a:close/>
                </a:path>
              </a:pathLst>
            </a:custGeom>
            <a:solidFill>
              <a:srgbClr val="F8CBAD"/>
            </a:solidFill>
          </p:spPr>
        </p:sp>
        <p:sp>
          <p:nvSpPr>
            <p:cNvPr id="4" name="TextBox 4"/>
            <p:cNvSpPr txBox="1"/>
            <p:nvPr/>
          </p:nvSpPr>
          <p:spPr>
            <a:xfrm>
              <a:off x="0" y="-38100"/>
              <a:ext cx="24384000" cy="1931045"/>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Component selection(Platform/Software)</a:t>
              </a:r>
            </a:p>
          </p:txBody>
        </p:sp>
      </p:grpSp>
      <p:grpSp>
        <p:nvGrpSpPr>
          <p:cNvPr id="5" name="Group 5"/>
          <p:cNvGrpSpPr/>
          <p:nvPr/>
        </p:nvGrpSpPr>
        <p:grpSpPr>
          <a:xfrm>
            <a:off x="8614257" y="2539115"/>
            <a:ext cx="8299047" cy="5782196"/>
            <a:chOff x="0" y="0"/>
            <a:chExt cx="11065396" cy="7709595"/>
          </a:xfrm>
        </p:grpSpPr>
        <p:sp>
          <p:nvSpPr>
            <p:cNvPr id="6" name="Freeform 6"/>
            <p:cNvSpPr/>
            <p:nvPr/>
          </p:nvSpPr>
          <p:spPr>
            <a:xfrm>
              <a:off x="0" y="0"/>
              <a:ext cx="11065396" cy="7709595"/>
            </a:xfrm>
            <a:custGeom>
              <a:avLst/>
              <a:gdLst/>
              <a:ahLst/>
              <a:cxnLst/>
              <a:rect l="l" t="t" r="r" b="b"/>
              <a:pathLst>
                <a:path w="11065396" h="7709595">
                  <a:moveTo>
                    <a:pt x="0" y="0"/>
                  </a:moveTo>
                  <a:lnTo>
                    <a:pt x="11065396" y="0"/>
                  </a:lnTo>
                  <a:lnTo>
                    <a:pt x="11065396" y="7709595"/>
                  </a:lnTo>
                  <a:lnTo>
                    <a:pt x="0" y="7709595"/>
                  </a:lnTo>
                  <a:close/>
                </a:path>
              </a:pathLst>
            </a:custGeom>
            <a:solidFill>
              <a:srgbClr val="000000">
                <a:alpha val="0"/>
              </a:srgbClr>
            </a:solidFill>
          </p:spPr>
        </p:sp>
        <p:sp>
          <p:nvSpPr>
            <p:cNvPr id="7" name="TextBox 7"/>
            <p:cNvSpPr txBox="1"/>
            <p:nvPr/>
          </p:nvSpPr>
          <p:spPr>
            <a:xfrm>
              <a:off x="0" y="-123825"/>
              <a:ext cx="11065396" cy="7833420"/>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The INMP441 is a high-performance, low-power, digital output, omnidirectional MEMS microphone with a bottom port.</a:t>
              </a:r>
            </a:p>
          </p:txBody>
        </p:sp>
      </p:grpSp>
      <p:grpSp>
        <p:nvGrpSpPr>
          <p:cNvPr id="8" name="Group 8"/>
          <p:cNvGrpSpPr/>
          <p:nvPr/>
        </p:nvGrpSpPr>
        <p:grpSpPr>
          <a:xfrm>
            <a:off x="1028700" y="1673252"/>
            <a:ext cx="5709486" cy="3038996"/>
            <a:chOff x="0" y="0"/>
            <a:chExt cx="7612648" cy="4051995"/>
          </a:xfrm>
        </p:grpSpPr>
        <p:sp>
          <p:nvSpPr>
            <p:cNvPr id="9" name="Freeform 9"/>
            <p:cNvSpPr/>
            <p:nvPr/>
          </p:nvSpPr>
          <p:spPr>
            <a:xfrm>
              <a:off x="0" y="0"/>
              <a:ext cx="7612649" cy="4051995"/>
            </a:xfrm>
            <a:custGeom>
              <a:avLst/>
              <a:gdLst/>
              <a:ahLst/>
              <a:cxnLst/>
              <a:rect l="l" t="t" r="r" b="b"/>
              <a:pathLst>
                <a:path w="7612649" h="4051995">
                  <a:moveTo>
                    <a:pt x="0" y="0"/>
                  </a:moveTo>
                  <a:lnTo>
                    <a:pt x="7612649" y="0"/>
                  </a:lnTo>
                  <a:lnTo>
                    <a:pt x="7612649" y="4051995"/>
                  </a:lnTo>
                  <a:lnTo>
                    <a:pt x="0" y="4051995"/>
                  </a:lnTo>
                  <a:close/>
                </a:path>
              </a:pathLst>
            </a:custGeom>
            <a:solidFill>
              <a:srgbClr val="000000">
                <a:alpha val="0"/>
              </a:srgbClr>
            </a:solidFill>
          </p:spPr>
        </p:sp>
        <p:sp>
          <p:nvSpPr>
            <p:cNvPr id="10" name="TextBox 10"/>
            <p:cNvSpPr txBox="1"/>
            <p:nvPr/>
          </p:nvSpPr>
          <p:spPr>
            <a:xfrm>
              <a:off x="0" y="-123825"/>
              <a:ext cx="7612648" cy="4175820"/>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INMP441 MEMS Microphone</a:t>
              </a:r>
            </a:p>
            <a:p>
              <a:pPr algn="l">
                <a:lnSpc>
                  <a:spcPts val="7200"/>
                </a:lnSpc>
              </a:pPr>
              <a:endParaRPr lang="en-US" sz="6000">
                <a:solidFill>
                  <a:srgbClr val="000000"/>
                </a:solidFill>
                <a:latin typeface="Calibri (MS)"/>
                <a:ea typeface="Calibri (MS)"/>
                <a:cs typeface="Calibri (MS)"/>
                <a:sym typeface="Calibri (MS)"/>
              </a:endParaRPr>
            </a:p>
          </p:txBody>
        </p:sp>
      </p:grpSp>
      <p:sp>
        <p:nvSpPr>
          <p:cNvPr id="11" name="Freeform 11"/>
          <p:cNvSpPr/>
          <p:nvPr/>
        </p:nvSpPr>
        <p:spPr>
          <a:xfrm>
            <a:off x="1028700" y="3930042"/>
            <a:ext cx="5972527" cy="5972527"/>
          </a:xfrm>
          <a:custGeom>
            <a:avLst/>
            <a:gdLst/>
            <a:ahLst/>
            <a:cxnLst/>
            <a:rect l="l" t="t" r="r" b="b"/>
            <a:pathLst>
              <a:path w="5972527" h="5972527">
                <a:moveTo>
                  <a:pt x="0" y="0"/>
                </a:moveTo>
                <a:lnTo>
                  <a:pt x="5972527" y="0"/>
                </a:lnTo>
                <a:lnTo>
                  <a:pt x="5972527" y="5972527"/>
                </a:lnTo>
                <a:lnTo>
                  <a:pt x="0" y="5972527"/>
                </a:lnTo>
                <a:lnTo>
                  <a:pt x="0" y="0"/>
                </a:lnTo>
                <a:close/>
              </a:path>
            </a:pathLst>
          </a:custGeom>
          <a:blipFill>
            <a:blip r:embed="rId2"/>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19709"/>
            <a:chOff x="0" y="0"/>
            <a:chExt cx="24384000" cy="1892945"/>
          </a:xfrm>
        </p:grpSpPr>
        <p:sp>
          <p:nvSpPr>
            <p:cNvPr id="3" name="Freeform 3"/>
            <p:cNvSpPr/>
            <p:nvPr/>
          </p:nvSpPr>
          <p:spPr>
            <a:xfrm>
              <a:off x="0" y="0"/>
              <a:ext cx="24384000" cy="1892917"/>
            </a:xfrm>
            <a:custGeom>
              <a:avLst/>
              <a:gdLst/>
              <a:ahLst/>
              <a:cxnLst/>
              <a:rect l="l" t="t" r="r" b="b"/>
              <a:pathLst>
                <a:path w="24384000" h="1892917">
                  <a:moveTo>
                    <a:pt x="0" y="0"/>
                  </a:moveTo>
                  <a:lnTo>
                    <a:pt x="24384000" y="0"/>
                  </a:lnTo>
                  <a:lnTo>
                    <a:pt x="24384000" y="1892917"/>
                  </a:lnTo>
                  <a:lnTo>
                    <a:pt x="0" y="1892917"/>
                  </a:lnTo>
                  <a:close/>
                </a:path>
              </a:pathLst>
            </a:custGeom>
            <a:solidFill>
              <a:srgbClr val="F8CBAD"/>
            </a:solidFill>
          </p:spPr>
        </p:sp>
        <p:sp>
          <p:nvSpPr>
            <p:cNvPr id="4" name="TextBox 4"/>
            <p:cNvSpPr txBox="1"/>
            <p:nvPr/>
          </p:nvSpPr>
          <p:spPr>
            <a:xfrm>
              <a:off x="0" y="-38100"/>
              <a:ext cx="24384000" cy="1931045"/>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Component selection(Platform/Software)</a:t>
              </a:r>
            </a:p>
          </p:txBody>
        </p:sp>
      </p:grpSp>
      <p:grpSp>
        <p:nvGrpSpPr>
          <p:cNvPr id="5" name="Group 5"/>
          <p:cNvGrpSpPr/>
          <p:nvPr/>
        </p:nvGrpSpPr>
        <p:grpSpPr>
          <a:xfrm>
            <a:off x="8614257" y="2539115"/>
            <a:ext cx="8299047" cy="6751738"/>
            <a:chOff x="0" y="0"/>
            <a:chExt cx="11065396" cy="9002318"/>
          </a:xfrm>
        </p:grpSpPr>
        <p:sp>
          <p:nvSpPr>
            <p:cNvPr id="6" name="Freeform 6"/>
            <p:cNvSpPr/>
            <p:nvPr/>
          </p:nvSpPr>
          <p:spPr>
            <a:xfrm>
              <a:off x="0" y="0"/>
              <a:ext cx="11065396" cy="9002317"/>
            </a:xfrm>
            <a:custGeom>
              <a:avLst/>
              <a:gdLst/>
              <a:ahLst/>
              <a:cxnLst/>
              <a:rect l="l" t="t" r="r" b="b"/>
              <a:pathLst>
                <a:path w="11065396" h="9002317">
                  <a:moveTo>
                    <a:pt x="0" y="0"/>
                  </a:moveTo>
                  <a:lnTo>
                    <a:pt x="11065396" y="0"/>
                  </a:lnTo>
                  <a:lnTo>
                    <a:pt x="11065396" y="9002317"/>
                  </a:lnTo>
                  <a:lnTo>
                    <a:pt x="0" y="9002317"/>
                  </a:lnTo>
                  <a:close/>
                </a:path>
              </a:pathLst>
            </a:custGeom>
            <a:solidFill>
              <a:srgbClr val="000000">
                <a:alpha val="0"/>
              </a:srgbClr>
            </a:solidFill>
          </p:spPr>
        </p:sp>
        <p:sp>
          <p:nvSpPr>
            <p:cNvPr id="7" name="TextBox 7"/>
            <p:cNvSpPr txBox="1"/>
            <p:nvPr/>
          </p:nvSpPr>
          <p:spPr>
            <a:xfrm>
              <a:off x="0" y="-85725"/>
              <a:ext cx="11065396" cy="9088043"/>
            </a:xfrm>
            <a:prstGeom prst="rect">
              <a:avLst/>
            </a:prstGeom>
          </p:spPr>
          <p:txBody>
            <a:bodyPr lIns="0" tIns="0" rIns="0" bIns="0" rtlCol="0" anchor="t"/>
            <a:lstStyle/>
            <a:p>
              <a:pPr algn="l">
                <a:lnSpc>
                  <a:spcPts val="5760"/>
                </a:lnSpc>
              </a:pPr>
              <a:r>
                <a:rPr lang="en-US" sz="4800">
                  <a:solidFill>
                    <a:srgbClr val="000000"/>
                  </a:solidFill>
                  <a:latin typeface="Calibri (MS)"/>
                  <a:ea typeface="Calibri (MS)"/>
                  <a:cs typeface="Calibri (MS)"/>
                  <a:sym typeface="Calibri (MS)"/>
                </a:rPr>
                <a:t>The I2S digital audio amplifier board is suitable for Raspberry Pi. Accepts digital audio through the I2S interface, converts it to an analog output signal and amplifies it to allow direct speaker connection. It combines an I2S D/A converter with an audio amplifier on one board.</a:t>
              </a:r>
            </a:p>
          </p:txBody>
        </p:sp>
      </p:grpSp>
      <p:grpSp>
        <p:nvGrpSpPr>
          <p:cNvPr id="8" name="Group 8"/>
          <p:cNvGrpSpPr/>
          <p:nvPr/>
        </p:nvGrpSpPr>
        <p:grpSpPr>
          <a:xfrm>
            <a:off x="1028700" y="1673252"/>
            <a:ext cx="5709486" cy="3038996"/>
            <a:chOff x="0" y="0"/>
            <a:chExt cx="7612648" cy="4051995"/>
          </a:xfrm>
        </p:grpSpPr>
        <p:sp>
          <p:nvSpPr>
            <p:cNvPr id="9" name="Freeform 9"/>
            <p:cNvSpPr/>
            <p:nvPr/>
          </p:nvSpPr>
          <p:spPr>
            <a:xfrm>
              <a:off x="0" y="0"/>
              <a:ext cx="7612649" cy="4051995"/>
            </a:xfrm>
            <a:custGeom>
              <a:avLst/>
              <a:gdLst/>
              <a:ahLst/>
              <a:cxnLst/>
              <a:rect l="l" t="t" r="r" b="b"/>
              <a:pathLst>
                <a:path w="7612649" h="4051995">
                  <a:moveTo>
                    <a:pt x="0" y="0"/>
                  </a:moveTo>
                  <a:lnTo>
                    <a:pt x="7612649" y="0"/>
                  </a:lnTo>
                  <a:lnTo>
                    <a:pt x="7612649" y="4051995"/>
                  </a:lnTo>
                  <a:lnTo>
                    <a:pt x="0" y="4051995"/>
                  </a:lnTo>
                  <a:close/>
                </a:path>
              </a:pathLst>
            </a:custGeom>
            <a:solidFill>
              <a:srgbClr val="000000">
                <a:alpha val="0"/>
              </a:srgbClr>
            </a:solidFill>
          </p:spPr>
        </p:sp>
        <p:sp>
          <p:nvSpPr>
            <p:cNvPr id="10" name="TextBox 10"/>
            <p:cNvSpPr txBox="1"/>
            <p:nvPr/>
          </p:nvSpPr>
          <p:spPr>
            <a:xfrm>
              <a:off x="0" y="-123825"/>
              <a:ext cx="7612648" cy="4175820"/>
            </a:xfrm>
            <a:prstGeom prst="rect">
              <a:avLst/>
            </a:prstGeom>
          </p:spPr>
          <p:txBody>
            <a:bodyPr lIns="0" tIns="0" rIns="0" bIns="0" rtlCol="0" anchor="t"/>
            <a:lstStyle/>
            <a:p>
              <a:pPr algn="l">
                <a:lnSpc>
                  <a:spcPts val="7200"/>
                </a:lnSpc>
              </a:pPr>
              <a:r>
                <a:rPr lang="en-US" sz="6000">
                  <a:solidFill>
                    <a:srgbClr val="000000"/>
                  </a:solidFill>
                  <a:latin typeface="Calibri (MS)"/>
                  <a:ea typeface="Calibri (MS)"/>
                  <a:cs typeface="Calibri (MS)"/>
                  <a:sym typeface="Calibri (MS)"/>
                </a:rPr>
                <a:t>MAX98357 I2S Amplifier</a:t>
              </a:r>
            </a:p>
            <a:p>
              <a:pPr algn="l">
                <a:lnSpc>
                  <a:spcPts val="7200"/>
                </a:lnSpc>
              </a:pPr>
              <a:endParaRPr lang="en-US" sz="6000">
                <a:solidFill>
                  <a:srgbClr val="000000"/>
                </a:solidFill>
                <a:latin typeface="Calibri (MS)"/>
                <a:ea typeface="Calibri (MS)"/>
                <a:cs typeface="Calibri (MS)"/>
                <a:sym typeface="Calibri (MS)"/>
              </a:endParaRPr>
            </a:p>
          </p:txBody>
        </p:sp>
      </p:grpSp>
      <p:sp>
        <p:nvSpPr>
          <p:cNvPr id="11" name="Freeform 11"/>
          <p:cNvSpPr/>
          <p:nvPr/>
        </p:nvSpPr>
        <p:spPr>
          <a:xfrm>
            <a:off x="1415647" y="3880579"/>
            <a:ext cx="5671186" cy="5671186"/>
          </a:xfrm>
          <a:custGeom>
            <a:avLst/>
            <a:gdLst/>
            <a:ahLst/>
            <a:cxnLst/>
            <a:rect l="l" t="t" r="r" b="b"/>
            <a:pathLst>
              <a:path w="5671186" h="5671186">
                <a:moveTo>
                  <a:pt x="0" y="0"/>
                </a:moveTo>
                <a:lnTo>
                  <a:pt x="5671187" y="0"/>
                </a:lnTo>
                <a:lnTo>
                  <a:pt x="5671187" y="5671187"/>
                </a:lnTo>
                <a:lnTo>
                  <a:pt x="0" y="5671187"/>
                </a:lnTo>
                <a:lnTo>
                  <a:pt x="0" y="0"/>
                </a:lnTo>
                <a:close/>
              </a:path>
            </a:pathLst>
          </a:custGeom>
          <a:blipFill>
            <a:blip r:embed="rId2"/>
            <a:stretch>
              <a:fillRect/>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F8CBAD"/>
            </a:solidFill>
          </p:spPr>
        </p:sp>
        <p:sp>
          <p:nvSpPr>
            <p:cNvPr id="4" name="TextBox 4"/>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Component selection(Platform/Software)</a:t>
              </a:r>
            </a:p>
          </p:txBody>
        </p:sp>
      </p:grpSp>
      <p:grpSp>
        <p:nvGrpSpPr>
          <p:cNvPr id="5" name="Group 5"/>
          <p:cNvGrpSpPr/>
          <p:nvPr/>
        </p:nvGrpSpPr>
        <p:grpSpPr>
          <a:xfrm>
            <a:off x="1348546" y="1710080"/>
            <a:ext cx="16343830" cy="7621097"/>
            <a:chOff x="0" y="0"/>
            <a:chExt cx="21791774" cy="10161463"/>
          </a:xfrm>
        </p:grpSpPr>
        <p:sp>
          <p:nvSpPr>
            <p:cNvPr id="6" name="Freeform 6"/>
            <p:cNvSpPr/>
            <p:nvPr/>
          </p:nvSpPr>
          <p:spPr>
            <a:xfrm>
              <a:off x="0" y="0"/>
              <a:ext cx="21791774" cy="10161463"/>
            </a:xfrm>
            <a:custGeom>
              <a:avLst/>
              <a:gdLst/>
              <a:ahLst/>
              <a:cxnLst/>
              <a:rect l="l" t="t" r="r" b="b"/>
              <a:pathLst>
                <a:path w="21791774" h="10161463">
                  <a:moveTo>
                    <a:pt x="0" y="0"/>
                  </a:moveTo>
                  <a:lnTo>
                    <a:pt x="21791774" y="0"/>
                  </a:lnTo>
                  <a:lnTo>
                    <a:pt x="21791774" y="10161463"/>
                  </a:lnTo>
                  <a:lnTo>
                    <a:pt x="0" y="10161463"/>
                  </a:lnTo>
                  <a:close/>
                </a:path>
              </a:pathLst>
            </a:custGeom>
            <a:solidFill>
              <a:srgbClr val="000000">
                <a:alpha val="0"/>
              </a:srgbClr>
            </a:solidFill>
          </p:spPr>
        </p:sp>
        <p:sp>
          <p:nvSpPr>
            <p:cNvPr id="7" name="TextBox 7"/>
            <p:cNvSpPr txBox="1"/>
            <p:nvPr/>
          </p:nvSpPr>
          <p:spPr>
            <a:xfrm>
              <a:off x="0" y="-85725"/>
              <a:ext cx="21791774" cy="10247188"/>
            </a:xfrm>
            <a:prstGeom prst="rect">
              <a:avLst/>
            </a:prstGeom>
          </p:spPr>
          <p:txBody>
            <a:bodyPr lIns="0" tIns="0" rIns="0" bIns="0" rtlCol="0" anchor="t"/>
            <a:lstStyle/>
            <a:p>
              <a:pPr marL="831211" lvl="1" indent="-415606" algn="l">
                <a:lnSpc>
                  <a:spcPts val="4619"/>
                </a:lnSpc>
                <a:buFont typeface="Arial"/>
                <a:buChar char="•"/>
              </a:pPr>
              <a:r>
                <a:rPr lang="en-US" sz="3849">
                  <a:solidFill>
                    <a:srgbClr val="000000"/>
                  </a:solidFill>
                  <a:latin typeface="Calibri (MS)"/>
                  <a:ea typeface="Calibri (MS)"/>
                  <a:cs typeface="Calibri (MS)"/>
                  <a:sym typeface="Calibri (MS)"/>
                </a:rPr>
                <a:t>Smarter Responses: Uses Google’s powerful AI for accurate, real-time answers.</a:t>
              </a:r>
            </a:p>
            <a:p>
              <a:pPr algn="l">
                <a:lnSpc>
                  <a:spcPts val="4619"/>
                </a:lnSpc>
              </a:pPr>
              <a:endParaRPr lang="en-US" sz="3849">
                <a:solidFill>
                  <a:srgbClr val="000000"/>
                </a:solidFill>
                <a:latin typeface="Calibri (MS)"/>
                <a:ea typeface="Calibri (MS)"/>
                <a:cs typeface="Calibri (MS)"/>
                <a:sym typeface="Calibri (MS)"/>
              </a:endParaRPr>
            </a:p>
            <a:p>
              <a:pPr marL="831211" lvl="1" indent="-415606" algn="l">
                <a:lnSpc>
                  <a:spcPts val="4619"/>
                </a:lnSpc>
                <a:buFont typeface="Arial"/>
                <a:buChar char="•"/>
              </a:pPr>
              <a:r>
                <a:rPr lang="en-US" sz="3849">
                  <a:solidFill>
                    <a:srgbClr val="000000"/>
                  </a:solidFill>
                  <a:latin typeface="Calibri (MS)"/>
                  <a:ea typeface="Calibri (MS)"/>
                  <a:cs typeface="Calibri (MS)"/>
                  <a:sym typeface="Calibri (MS)"/>
                </a:rPr>
                <a:t>Context Handling: Maintains conversation flow naturally.</a:t>
              </a:r>
            </a:p>
            <a:p>
              <a:pPr algn="l">
                <a:lnSpc>
                  <a:spcPts val="4619"/>
                </a:lnSpc>
              </a:pPr>
              <a:endParaRPr lang="en-US" sz="3849">
                <a:solidFill>
                  <a:srgbClr val="000000"/>
                </a:solidFill>
                <a:latin typeface="Calibri (MS)"/>
                <a:ea typeface="Calibri (MS)"/>
                <a:cs typeface="Calibri (MS)"/>
                <a:sym typeface="Calibri (MS)"/>
              </a:endParaRPr>
            </a:p>
            <a:p>
              <a:pPr marL="831211" lvl="1" indent="-415606" algn="l">
                <a:lnSpc>
                  <a:spcPts val="4619"/>
                </a:lnSpc>
                <a:buFont typeface="Arial"/>
                <a:buChar char="•"/>
              </a:pPr>
              <a:r>
                <a:rPr lang="en-US" sz="3849">
                  <a:solidFill>
                    <a:srgbClr val="000000"/>
                  </a:solidFill>
                  <a:latin typeface="Calibri (MS)"/>
                  <a:ea typeface="Calibri (MS)"/>
                  <a:cs typeface="Calibri (MS)"/>
                  <a:sym typeface="Calibri (MS)"/>
                </a:rPr>
                <a:t>Cost-Effective: ~₹8.50 per 1000 tokens (cheaper than ChatGPT).</a:t>
              </a:r>
            </a:p>
            <a:p>
              <a:pPr algn="l">
                <a:lnSpc>
                  <a:spcPts val="4619"/>
                </a:lnSpc>
              </a:pPr>
              <a:endParaRPr lang="en-US" sz="3849">
                <a:solidFill>
                  <a:srgbClr val="000000"/>
                </a:solidFill>
                <a:latin typeface="Calibri (MS)"/>
                <a:ea typeface="Calibri (MS)"/>
                <a:cs typeface="Calibri (MS)"/>
                <a:sym typeface="Calibri (MS)"/>
              </a:endParaRPr>
            </a:p>
            <a:p>
              <a:pPr marL="831211" lvl="1" indent="-415606" algn="l">
                <a:lnSpc>
                  <a:spcPts val="4619"/>
                </a:lnSpc>
                <a:buFont typeface="Arial"/>
                <a:buChar char="•"/>
              </a:pPr>
              <a:r>
                <a:rPr lang="en-US" sz="3849">
                  <a:solidFill>
                    <a:srgbClr val="000000"/>
                  </a:solidFill>
                  <a:latin typeface="Calibri (MS)"/>
                  <a:ea typeface="Calibri (MS)"/>
                  <a:cs typeface="Calibri (MS)"/>
                  <a:sym typeface="Calibri (MS)"/>
                </a:rPr>
                <a:t>Google Integration: Works well with Firebase, Android, and other Google services.</a:t>
              </a:r>
            </a:p>
            <a:p>
              <a:pPr algn="l">
                <a:lnSpc>
                  <a:spcPts val="4619"/>
                </a:lnSpc>
              </a:pPr>
              <a:endParaRPr lang="en-US" sz="3849">
                <a:solidFill>
                  <a:srgbClr val="000000"/>
                </a:solidFill>
                <a:latin typeface="Calibri (MS)"/>
                <a:ea typeface="Calibri (MS)"/>
                <a:cs typeface="Calibri (MS)"/>
                <a:sym typeface="Calibri (MS)"/>
              </a:endParaRPr>
            </a:p>
            <a:p>
              <a:pPr marL="831211" lvl="1" indent="-415606" algn="l">
                <a:lnSpc>
                  <a:spcPts val="4619"/>
                </a:lnSpc>
                <a:buFont typeface="Arial"/>
                <a:buChar char="•"/>
              </a:pPr>
              <a:r>
                <a:rPr lang="en-US" sz="3849">
                  <a:solidFill>
                    <a:srgbClr val="000000"/>
                  </a:solidFill>
                  <a:latin typeface="Calibri (MS)"/>
                  <a:ea typeface="Calibri (MS)"/>
                  <a:cs typeface="Calibri (MS)"/>
                  <a:sym typeface="Calibri (MS)"/>
                </a:rPr>
                <a:t>Multimodal Support: Understands text, images, and more (in advanced versions).</a:t>
              </a:r>
            </a:p>
            <a:p>
              <a:pPr algn="l">
                <a:lnSpc>
                  <a:spcPts val="3779"/>
                </a:lnSpc>
              </a:pPr>
              <a:endParaRPr lang="en-US" sz="3849">
                <a:solidFill>
                  <a:srgbClr val="000000"/>
                </a:solidFill>
                <a:latin typeface="Calibri (MS)"/>
                <a:ea typeface="Calibri (MS)"/>
                <a:cs typeface="Calibri (MS)"/>
                <a:sym typeface="Calibri (M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54162"/>
            <a:chOff x="0" y="0"/>
            <a:chExt cx="24384000" cy="1538882"/>
          </a:xfrm>
        </p:grpSpPr>
        <p:sp>
          <p:nvSpPr>
            <p:cNvPr id="3" name="Freeform 3"/>
            <p:cNvSpPr/>
            <p:nvPr/>
          </p:nvSpPr>
          <p:spPr>
            <a:xfrm>
              <a:off x="0" y="0"/>
              <a:ext cx="24384000" cy="1538859"/>
            </a:xfrm>
            <a:custGeom>
              <a:avLst/>
              <a:gdLst/>
              <a:ahLst/>
              <a:cxnLst/>
              <a:rect l="l" t="t" r="r" b="b"/>
              <a:pathLst>
                <a:path w="24384000" h="1538859">
                  <a:moveTo>
                    <a:pt x="0" y="0"/>
                  </a:moveTo>
                  <a:lnTo>
                    <a:pt x="24384000" y="0"/>
                  </a:lnTo>
                  <a:lnTo>
                    <a:pt x="24384000" y="1538859"/>
                  </a:lnTo>
                  <a:lnTo>
                    <a:pt x="0" y="1538859"/>
                  </a:lnTo>
                  <a:close/>
                </a:path>
              </a:pathLst>
            </a:custGeom>
            <a:solidFill>
              <a:srgbClr val="DBDBDB"/>
            </a:solidFill>
          </p:spPr>
        </p:sp>
        <p:sp>
          <p:nvSpPr>
            <p:cNvPr id="4" name="Freeform 4"/>
            <p:cNvSpPr/>
            <p:nvPr/>
          </p:nvSpPr>
          <p:spPr>
            <a:xfrm>
              <a:off x="-1524" y="-1524"/>
              <a:ext cx="24387048" cy="1541907"/>
            </a:xfrm>
            <a:custGeom>
              <a:avLst/>
              <a:gdLst/>
              <a:ahLst/>
              <a:cxnLst/>
              <a:rect l="l" t="t" r="r" b="b"/>
              <a:pathLst>
                <a:path w="24387048" h="1541907">
                  <a:moveTo>
                    <a:pt x="1524" y="0"/>
                  </a:moveTo>
                  <a:lnTo>
                    <a:pt x="24385524" y="0"/>
                  </a:lnTo>
                  <a:cubicBezTo>
                    <a:pt x="24386414" y="0"/>
                    <a:pt x="24387048" y="762"/>
                    <a:pt x="24387048" y="1524"/>
                  </a:cubicBezTo>
                  <a:lnTo>
                    <a:pt x="24387048" y="1540383"/>
                  </a:lnTo>
                  <a:cubicBezTo>
                    <a:pt x="24387048" y="1541272"/>
                    <a:pt x="24386287" y="1541907"/>
                    <a:pt x="24385524" y="1541907"/>
                  </a:cubicBezTo>
                  <a:lnTo>
                    <a:pt x="1524" y="1541907"/>
                  </a:lnTo>
                  <a:cubicBezTo>
                    <a:pt x="635" y="1541907"/>
                    <a:pt x="0" y="1541145"/>
                    <a:pt x="0" y="1540383"/>
                  </a:cubicBezTo>
                  <a:lnTo>
                    <a:pt x="0" y="1524"/>
                  </a:lnTo>
                  <a:cubicBezTo>
                    <a:pt x="0" y="635"/>
                    <a:pt x="762" y="0"/>
                    <a:pt x="1524" y="0"/>
                  </a:cubicBezTo>
                  <a:moveTo>
                    <a:pt x="1524" y="3048"/>
                  </a:moveTo>
                  <a:lnTo>
                    <a:pt x="1524" y="1524"/>
                  </a:lnTo>
                  <a:lnTo>
                    <a:pt x="3048" y="1524"/>
                  </a:lnTo>
                  <a:lnTo>
                    <a:pt x="3048" y="1540383"/>
                  </a:lnTo>
                  <a:lnTo>
                    <a:pt x="1524" y="1540383"/>
                  </a:lnTo>
                  <a:lnTo>
                    <a:pt x="1524" y="1538859"/>
                  </a:lnTo>
                  <a:lnTo>
                    <a:pt x="24385524" y="1538859"/>
                  </a:lnTo>
                  <a:lnTo>
                    <a:pt x="24385524" y="1540383"/>
                  </a:lnTo>
                  <a:lnTo>
                    <a:pt x="24384000" y="1540383"/>
                  </a:lnTo>
                  <a:lnTo>
                    <a:pt x="24384000" y="1524"/>
                  </a:lnTo>
                  <a:lnTo>
                    <a:pt x="24385524" y="1524"/>
                  </a:lnTo>
                  <a:lnTo>
                    <a:pt x="24385524" y="3048"/>
                  </a:lnTo>
                  <a:lnTo>
                    <a:pt x="1524" y="3048"/>
                  </a:lnTo>
                  <a:close/>
                </a:path>
              </a:pathLst>
            </a:custGeom>
            <a:solidFill>
              <a:srgbClr val="FBE5D6"/>
            </a:solidFill>
          </p:spPr>
        </p:sp>
        <p:sp>
          <p:nvSpPr>
            <p:cNvPr id="5" name="TextBox 5"/>
            <p:cNvSpPr txBox="1"/>
            <p:nvPr/>
          </p:nvSpPr>
          <p:spPr>
            <a:xfrm>
              <a:off x="0" y="-38100"/>
              <a:ext cx="24384000" cy="1576982"/>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    System test parameters</a:t>
              </a:r>
            </a:p>
          </p:txBody>
        </p:sp>
      </p:grpSp>
      <p:grpSp>
        <p:nvGrpSpPr>
          <p:cNvPr id="6" name="Group 6"/>
          <p:cNvGrpSpPr/>
          <p:nvPr/>
        </p:nvGrpSpPr>
        <p:grpSpPr>
          <a:xfrm>
            <a:off x="3305673" y="3500475"/>
            <a:ext cx="12133934" cy="3038996"/>
            <a:chOff x="0" y="0"/>
            <a:chExt cx="16178578" cy="4051995"/>
          </a:xfrm>
        </p:grpSpPr>
        <p:sp>
          <p:nvSpPr>
            <p:cNvPr id="7" name="Freeform 7"/>
            <p:cNvSpPr/>
            <p:nvPr/>
          </p:nvSpPr>
          <p:spPr>
            <a:xfrm>
              <a:off x="0" y="0"/>
              <a:ext cx="16178578" cy="4051995"/>
            </a:xfrm>
            <a:custGeom>
              <a:avLst/>
              <a:gdLst/>
              <a:ahLst/>
              <a:cxnLst/>
              <a:rect l="l" t="t" r="r" b="b"/>
              <a:pathLst>
                <a:path w="16178578" h="4051995">
                  <a:moveTo>
                    <a:pt x="0" y="0"/>
                  </a:moveTo>
                  <a:lnTo>
                    <a:pt x="16178578" y="0"/>
                  </a:lnTo>
                  <a:lnTo>
                    <a:pt x="16178578" y="4051995"/>
                  </a:lnTo>
                  <a:lnTo>
                    <a:pt x="0" y="4051995"/>
                  </a:lnTo>
                  <a:close/>
                </a:path>
              </a:pathLst>
            </a:custGeom>
            <a:solidFill>
              <a:srgbClr val="000000">
                <a:alpha val="0"/>
              </a:srgbClr>
            </a:solidFill>
          </p:spPr>
        </p:sp>
        <p:sp>
          <p:nvSpPr>
            <p:cNvPr id="8" name="TextBox 8"/>
            <p:cNvSpPr txBox="1"/>
            <p:nvPr/>
          </p:nvSpPr>
          <p:spPr>
            <a:xfrm>
              <a:off x="0" y="-123825"/>
              <a:ext cx="16178578" cy="4175820"/>
            </a:xfrm>
            <a:prstGeom prst="rect">
              <a:avLst/>
            </a:prstGeom>
          </p:spPr>
          <p:txBody>
            <a:bodyPr lIns="0" tIns="0" rIns="0" bIns="0" rtlCol="0" anchor="t"/>
            <a:lstStyle/>
            <a:p>
              <a:pPr algn="l">
                <a:lnSpc>
                  <a:spcPts val="7200"/>
                </a:lnSpc>
              </a:pPr>
              <a:endParaRPr/>
            </a:p>
            <a:p>
              <a:pPr algn="l">
                <a:lnSpc>
                  <a:spcPts val="7200"/>
                </a:lnSpc>
              </a:pPr>
              <a:r>
                <a:rPr lang="en-US" sz="6000" b="1">
                  <a:solidFill>
                    <a:srgbClr val="000000"/>
                  </a:solidFill>
                  <a:latin typeface="Calibri (MS) Bold"/>
                  <a:ea typeface="Calibri (MS) Bold"/>
                  <a:cs typeface="Calibri (MS) Bold"/>
                  <a:sym typeface="Calibri (MS) Bold"/>
                </a:rPr>
                <a:t>Range Test (Input):</a:t>
              </a:r>
              <a:r>
                <a:rPr lang="en-US" sz="6000">
                  <a:solidFill>
                    <a:srgbClr val="000000"/>
                  </a:solidFill>
                  <a:latin typeface="Calibri (MS)"/>
                  <a:ea typeface="Calibri (MS)"/>
                  <a:cs typeface="Calibri (MS)"/>
                  <a:sym typeface="Calibri (MS)"/>
                </a:rPr>
                <a:t> upto 1 meter</a:t>
              </a:r>
            </a:p>
            <a:p>
              <a:pPr algn="l">
                <a:lnSpc>
                  <a:spcPts val="7200"/>
                </a:lnSpc>
              </a:pPr>
              <a:r>
                <a:rPr lang="en-US" sz="6000" b="1">
                  <a:solidFill>
                    <a:srgbClr val="000000"/>
                  </a:solidFill>
                  <a:latin typeface="Calibri (MS) Bold"/>
                  <a:ea typeface="Calibri (MS) Bold"/>
                  <a:cs typeface="Calibri (MS) Bold"/>
                  <a:sym typeface="Calibri (MS) Bold"/>
                </a:rPr>
                <a:t>Range Test (Output):</a:t>
              </a:r>
              <a:r>
                <a:rPr lang="en-US" sz="6000">
                  <a:solidFill>
                    <a:srgbClr val="000000"/>
                  </a:solidFill>
                  <a:latin typeface="Calibri (MS)"/>
                  <a:ea typeface="Calibri (MS)"/>
                  <a:cs typeface="Calibri (MS)"/>
                  <a:sym typeface="Calibri (MS)"/>
                </a:rPr>
                <a:t> 2 to 3 meters</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19709"/>
            <a:chOff x="0" y="0"/>
            <a:chExt cx="24384000" cy="1892945"/>
          </a:xfrm>
        </p:grpSpPr>
        <p:sp>
          <p:nvSpPr>
            <p:cNvPr id="3" name="Freeform 3"/>
            <p:cNvSpPr/>
            <p:nvPr/>
          </p:nvSpPr>
          <p:spPr>
            <a:xfrm>
              <a:off x="0" y="0"/>
              <a:ext cx="24384000" cy="1892917"/>
            </a:xfrm>
            <a:custGeom>
              <a:avLst/>
              <a:gdLst/>
              <a:ahLst/>
              <a:cxnLst/>
              <a:rect l="l" t="t" r="r" b="b"/>
              <a:pathLst>
                <a:path w="24384000" h="1892917">
                  <a:moveTo>
                    <a:pt x="0" y="0"/>
                  </a:moveTo>
                  <a:lnTo>
                    <a:pt x="24384000" y="0"/>
                  </a:lnTo>
                  <a:lnTo>
                    <a:pt x="24384000" y="1892917"/>
                  </a:lnTo>
                  <a:lnTo>
                    <a:pt x="0" y="1892917"/>
                  </a:lnTo>
                  <a:close/>
                </a:path>
              </a:pathLst>
            </a:custGeom>
            <a:solidFill>
              <a:srgbClr val="F8CBAD"/>
            </a:solidFill>
          </p:spPr>
        </p:sp>
        <p:sp>
          <p:nvSpPr>
            <p:cNvPr id="4" name="TextBox 4"/>
            <p:cNvSpPr txBox="1"/>
            <p:nvPr/>
          </p:nvSpPr>
          <p:spPr>
            <a:xfrm>
              <a:off x="0" y="-38100"/>
              <a:ext cx="24384000" cy="1931045"/>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Stages Of Progress</a:t>
              </a:r>
            </a:p>
          </p:txBody>
        </p:sp>
      </p:grpSp>
      <p:sp>
        <p:nvSpPr>
          <p:cNvPr id="5" name="Freeform 5"/>
          <p:cNvSpPr/>
          <p:nvPr/>
        </p:nvSpPr>
        <p:spPr>
          <a:xfrm>
            <a:off x="12572567" y="2365208"/>
            <a:ext cx="5138192" cy="5863082"/>
          </a:xfrm>
          <a:custGeom>
            <a:avLst/>
            <a:gdLst/>
            <a:ahLst/>
            <a:cxnLst/>
            <a:rect l="l" t="t" r="r" b="b"/>
            <a:pathLst>
              <a:path w="5138192" h="5863082">
                <a:moveTo>
                  <a:pt x="0" y="0"/>
                </a:moveTo>
                <a:lnTo>
                  <a:pt x="5138192" y="0"/>
                </a:lnTo>
                <a:lnTo>
                  <a:pt x="5138192" y="5863083"/>
                </a:lnTo>
                <a:lnTo>
                  <a:pt x="0" y="5863083"/>
                </a:lnTo>
                <a:lnTo>
                  <a:pt x="0" y="0"/>
                </a:lnTo>
                <a:close/>
              </a:path>
            </a:pathLst>
          </a:custGeom>
          <a:blipFill>
            <a:blip r:embed="rId2"/>
            <a:stretch>
              <a:fillRect/>
            </a:stretch>
          </a:blipFill>
        </p:spPr>
      </p:sp>
      <p:sp>
        <p:nvSpPr>
          <p:cNvPr id="6" name="Freeform 6"/>
          <p:cNvSpPr/>
          <p:nvPr/>
        </p:nvSpPr>
        <p:spPr>
          <a:xfrm>
            <a:off x="480857" y="2418569"/>
            <a:ext cx="5900739" cy="5809722"/>
          </a:xfrm>
          <a:custGeom>
            <a:avLst/>
            <a:gdLst/>
            <a:ahLst/>
            <a:cxnLst/>
            <a:rect l="l" t="t" r="r" b="b"/>
            <a:pathLst>
              <a:path w="5900739" h="5809722">
                <a:moveTo>
                  <a:pt x="0" y="0"/>
                </a:moveTo>
                <a:lnTo>
                  <a:pt x="5900738" y="0"/>
                </a:lnTo>
                <a:lnTo>
                  <a:pt x="5900738" y="5809722"/>
                </a:lnTo>
                <a:lnTo>
                  <a:pt x="0" y="5809722"/>
                </a:lnTo>
                <a:lnTo>
                  <a:pt x="0" y="0"/>
                </a:lnTo>
                <a:close/>
              </a:path>
            </a:pathLst>
          </a:custGeom>
          <a:blipFill>
            <a:blip r:embed="rId3"/>
            <a:stretch>
              <a:fillRect l="-14229" r="-14738"/>
            </a:stretch>
          </a:blipFill>
        </p:spPr>
      </p:sp>
      <p:sp>
        <p:nvSpPr>
          <p:cNvPr id="7" name="Freeform 7"/>
          <p:cNvSpPr/>
          <p:nvPr/>
        </p:nvSpPr>
        <p:spPr>
          <a:xfrm rot="5400000">
            <a:off x="6131936" y="2602175"/>
            <a:ext cx="6024127" cy="5656915"/>
          </a:xfrm>
          <a:custGeom>
            <a:avLst/>
            <a:gdLst/>
            <a:ahLst/>
            <a:cxnLst/>
            <a:rect l="l" t="t" r="r" b="b"/>
            <a:pathLst>
              <a:path w="6024127" h="5656915">
                <a:moveTo>
                  <a:pt x="0" y="0"/>
                </a:moveTo>
                <a:lnTo>
                  <a:pt x="6024128" y="0"/>
                </a:lnTo>
                <a:lnTo>
                  <a:pt x="6024128" y="5656915"/>
                </a:lnTo>
                <a:lnTo>
                  <a:pt x="0" y="5656915"/>
                </a:lnTo>
                <a:lnTo>
                  <a:pt x="0" y="0"/>
                </a:lnTo>
                <a:close/>
              </a:path>
            </a:pathLst>
          </a:custGeom>
          <a:blipFill>
            <a:blip r:embed="rId4"/>
            <a:stretch>
              <a:fillRect r="-6969"/>
            </a:stretch>
          </a:blipFill>
        </p:spPr>
      </p:sp>
      <p:sp>
        <p:nvSpPr>
          <p:cNvPr id="8" name="TextBox 8"/>
          <p:cNvSpPr txBox="1"/>
          <p:nvPr/>
        </p:nvSpPr>
        <p:spPr>
          <a:xfrm>
            <a:off x="2414670" y="8376021"/>
            <a:ext cx="2350397" cy="615553"/>
          </a:xfrm>
          <a:prstGeom prst="rect">
            <a:avLst/>
          </a:prstGeom>
        </p:spPr>
        <p:txBody>
          <a:bodyPr wrap="square"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Designing</a:t>
            </a:r>
          </a:p>
        </p:txBody>
      </p:sp>
      <p:sp>
        <p:nvSpPr>
          <p:cNvPr id="9" name="TextBox 9"/>
          <p:cNvSpPr txBox="1"/>
          <p:nvPr/>
        </p:nvSpPr>
        <p:spPr>
          <a:xfrm>
            <a:off x="13982590" y="8376021"/>
            <a:ext cx="2318147"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3D Printing</a:t>
            </a:r>
          </a:p>
        </p:txBody>
      </p:sp>
      <p:sp>
        <p:nvSpPr>
          <p:cNvPr id="10" name="TextBox 10"/>
          <p:cNvSpPr txBox="1"/>
          <p:nvPr/>
        </p:nvSpPr>
        <p:spPr>
          <a:xfrm>
            <a:off x="7930553" y="8376021"/>
            <a:ext cx="3042247" cy="615553"/>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Implementing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19709"/>
            <a:chOff x="0" y="0"/>
            <a:chExt cx="24384000" cy="1892945"/>
          </a:xfrm>
        </p:grpSpPr>
        <p:sp>
          <p:nvSpPr>
            <p:cNvPr id="3" name="Freeform 3"/>
            <p:cNvSpPr/>
            <p:nvPr/>
          </p:nvSpPr>
          <p:spPr>
            <a:xfrm>
              <a:off x="0" y="0"/>
              <a:ext cx="24384000" cy="1892917"/>
            </a:xfrm>
            <a:custGeom>
              <a:avLst/>
              <a:gdLst/>
              <a:ahLst/>
              <a:cxnLst/>
              <a:rect l="l" t="t" r="r" b="b"/>
              <a:pathLst>
                <a:path w="24384000" h="1892917">
                  <a:moveTo>
                    <a:pt x="0" y="0"/>
                  </a:moveTo>
                  <a:lnTo>
                    <a:pt x="24384000" y="0"/>
                  </a:lnTo>
                  <a:lnTo>
                    <a:pt x="24384000" y="1892917"/>
                  </a:lnTo>
                  <a:lnTo>
                    <a:pt x="0" y="1892917"/>
                  </a:lnTo>
                  <a:close/>
                </a:path>
              </a:pathLst>
            </a:custGeom>
            <a:solidFill>
              <a:srgbClr val="F8CBAD"/>
            </a:solidFill>
          </p:spPr>
        </p:sp>
        <p:sp>
          <p:nvSpPr>
            <p:cNvPr id="4" name="TextBox 4"/>
            <p:cNvSpPr txBox="1"/>
            <p:nvPr/>
          </p:nvSpPr>
          <p:spPr>
            <a:xfrm>
              <a:off x="0" y="-38100"/>
              <a:ext cx="24384000" cy="1931045"/>
            </a:xfrm>
            <a:prstGeom prst="rect">
              <a:avLst/>
            </a:prstGeom>
          </p:spPr>
          <p:txBody>
            <a:bodyPr lIns="50800" tIns="50800" rIns="50800" bIns="50800" rtlCol="0" anchor="t"/>
            <a:lstStyle/>
            <a:p>
              <a:pPr algn="ctr">
                <a:lnSpc>
                  <a:spcPts val="7920"/>
                </a:lnSpc>
              </a:pPr>
              <a:r>
                <a:rPr lang="en-US" sz="6600" b="1">
                  <a:solidFill>
                    <a:srgbClr val="000000"/>
                  </a:solidFill>
                  <a:latin typeface="Arimo Bold"/>
                  <a:ea typeface="Arimo Bold"/>
                  <a:cs typeface="Arimo Bold"/>
                  <a:sym typeface="Arimo Bold"/>
                </a:rPr>
                <a:t>Stages Of Progress</a:t>
              </a:r>
            </a:p>
          </p:txBody>
        </p:sp>
      </p:grpSp>
      <p:sp>
        <p:nvSpPr>
          <p:cNvPr id="5" name="Freeform 5"/>
          <p:cNvSpPr/>
          <p:nvPr/>
        </p:nvSpPr>
        <p:spPr>
          <a:xfrm>
            <a:off x="1526464" y="2795334"/>
            <a:ext cx="6637106" cy="4696332"/>
          </a:xfrm>
          <a:custGeom>
            <a:avLst/>
            <a:gdLst/>
            <a:ahLst/>
            <a:cxnLst/>
            <a:rect l="l" t="t" r="r" b="b"/>
            <a:pathLst>
              <a:path w="6637106" h="4696332">
                <a:moveTo>
                  <a:pt x="0" y="0"/>
                </a:moveTo>
                <a:lnTo>
                  <a:pt x="6637106" y="0"/>
                </a:lnTo>
                <a:lnTo>
                  <a:pt x="6637106" y="4696332"/>
                </a:lnTo>
                <a:lnTo>
                  <a:pt x="0" y="4696332"/>
                </a:lnTo>
                <a:lnTo>
                  <a:pt x="0" y="0"/>
                </a:lnTo>
                <a:close/>
              </a:path>
            </a:pathLst>
          </a:custGeom>
          <a:blipFill>
            <a:blip r:embed="rId2"/>
            <a:stretch>
              <a:fillRect l="-29466" r="-5956"/>
            </a:stretch>
          </a:blipFill>
        </p:spPr>
      </p:sp>
      <p:sp>
        <p:nvSpPr>
          <p:cNvPr id="6" name="Freeform 6"/>
          <p:cNvSpPr/>
          <p:nvPr/>
        </p:nvSpPr>
        <p:spPr>
          <a:xfrm rot="-5400000">
            <a:off x="11581008" y="1468458"/>
            <a:ext cx="4351417" cy="7005168"/>
          </a:xfrm>
          <a:custGeom>
            <a:avLst/>
            <a:gdLst/>
            <a:ahLst/>
            <a:cxnLst/>
            <a:rect l="l" t="t" r="r" b="b"/>
            <a:pathLst>
              <a:path w="4351417" h="7005168">
                <a:moveTo>
                  <a:pt x="0" y="0"/>
                </a:moveTo>
                <a:lnTo>
                  <a:pt x="4351417" y="0"/>
                </a:lnTo>
                <a:lnTo>
                  <a:pt x="4351417" y="7005168"/>
                </a:lnTo>
                <a:lnTo>
                  <a:pt x="0" y="7005168"/>
                </a:lnTo>
                <a:lnTo>
                  <a:pt x="0" y="0"/>
                </a:lnTo>
                <a:close/>
              </a:path>
            </a:pathLst>
          </a:custGeom>
          <a:blipFill>
            <a:blip r:embed="rId3"/>
            <a:stretch>
              <a:fillRect r="-17779" b="-30064"/>
            </a:stretch>
          </a:blipFill>
        </p:spPr>
      </p:sp>
      <p:sp>
        <p:nvSpPr>
          <p:cNvPr id="7" name="TextBox 7"/>
          <p:cNvSpPr txBox="1"/>
          <p:nvPr/>
        </p:nvSpPr>
        <p:spPr>
          <a:xfrm>
            <a:off x="1526464" y="8376021"/>
            <a:ext cx="3809524"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Screen Interfacing</a:t>
            </a:r>
          </a:p>
        </p:txBody>
      </p:sp>
      <p:sp>
        <p:nvSpPr>
          <p:cNvPr id="8" name="TextBox 8"/>
          <p:cNvSpPr txBox="1"/>
          <p:nvPr/>
        </p:nvSpPr>
        <p:spPr>
          <a:xfrm>
            <a:off x="12744895" y="8451676"/>
            <a:ext cx="2647505" cy="615553"/>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Connections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73770"/>
            <a:chOff x="0" y="0"/>
            <a:chExt cx="24384000" cy="1965026"/>
          </a:xfrm>
        </p:grpSpPr>
        <p:sp>
          <p:nvSpPr>
            <p:cNvPr id="3" name="Freeform 3"/>
            <p:cNvSpPr/>
            <p:nvPr/>
          </p:nvSpPr>
          <p:spPr>
            <a:xfrm>
              <a:off x="0" y="0"/>
              <a:ext cx="24384000" cy="1965071"/>
            </a:xfrm>
            <a:custGeom>
              <a:avLst/>
              <a:gdLst/>
              <a:ahLst/>
              <a:cxnLst/>
              <a:rect l="l" t="t" r="r" b="b"/>
              <a:pathLst>
                <a:path w="24384000" h="1965071">
                  <a:moveTo>
                    <a:pt x="0" y="0"/>
                  </a:moveTo>
                  <a:lnTo>
                    <a:pt x="24384000" y="0"/>
                  </a:lnTo>
                  <a:lnTo>
                    <a:pt x="24384000" y="1965071"/>
                  </a:lnTo>
                  <a:lnTo>
                    <a:pt x="0" y="1965071"/>
                  </a:lnTo>
                  <a:close/>
                </a:path>
              </a:pathLst>
            </a:custGeom>
            <a:solidFill>
              <a:srgbClr val="DBDBDB"/>
            </a:solidFill>
          </p:spPr>
        </p:sp>
        <p:sp>
          <p:nvSpPr>
            <p:cNvPr id="4" name="Freeform 4"/>
            <p:cNvSpPr/>
            <p:nvPr/>
          </p:nvSpPr>
          <p:spPr>
            <a:xfrm>
              <a:off x="-1524" y="-1524"/>
              <a:ext cx="24387048" cy="1968119"/>
            </a:xfrm>
            <a:custGeom>
              <a:avLst/>
              <a:gdLst/>
              <a:ahLst/>
              <a:cxnLst/>
              <a:rect l="l" t="t" r="r" b="b"/>
              <a:pathLst>
                <a:path w="24387048" h="1968119">
                  <a:moveTo>
                    <a:pt x="1524" y="0"/>
                  </a:moveTo>
                  <a:lnTo>
                    <a:pt x="24385524" y="0"/>
                  </a:lnTo>
                  <a:cubicBezTo>
                    <a:pt x="24386414" y="0"/>
                    <a:pt x="24387048" y="762"/>
                    <a:pt x="24387048" y="1524"/>
                  </a:cubicBezTo>
                  <a:lnTo>
                    <a:pt x="24387048" y="1966595"/>
                  </a:lnTo>
                  <a:cubicBezTo>
                    <a:pt x="24387048" y="1967484"/>
                    <a:pt x="24386287" y="1968119"/>
                    <a:pt x="24385524" y="1968119"/>
                  </a:cubicBezTo>
                  <a:lnTo>
                    <a:pt x="1524" y="1968119"/>
                  </a:lnTo>
                  <a:cubicBezTo>
                    <a:pt x="635" y="1968119"/>
                    <a:pt x="0" y="1967357"/>
                    <a:pt x="0" y="1966595"/>
                  </a:cubicBezTo>
                  <a:lnTo>
                    <a:pt x="0" y="1524"/>
                  </a:lnTo>
                  <a:cubicBezTo>
                    <a:pt x="0" y="635"/>
                    <a:pt x="762" y="0"/>
                    <a:pt x="1524" y="0"/>
                  </a:cubicBezTo>
                  <a:moveTo>
                    <a:pt x="1524" y="3048"/>
                  </a:moveTo>
                  <a:lnTo>
                    <a:pt x="1524" y="1524"/>
                  </a:lnTo>
                  <a:lnTo>
                    <a:pt x="3048" y="1524"/>
                  </a:lnTo>
                  <a:lnTo>
                    <a:pt x="3048" y="1966595"/>
                  </a:lnTo>
                  <a:lnTo>
                    <a:pt x="1524" y="1966595"/>
                  </a:lnTo>
                  <a:lnTo>
                    <a:pt x="1524" y="1965071"/>
                  </a:lnTo>
                  <a:lnTo>
                    <a:pt x="24385524" y="1965071"/>
                  </a:lnTo>
                  <a:lnTo>
                    <a:pt x="24385524" y="1966595"/>
                  </a:lnTo>
                  <a:lnTo>
                    <a:pt x="24384000" y="1966595"/>
                  </a:lnTo>
                  <a:lnTo>
                    <a:pt x="24384000" y="1524"/>
                  </a:lnTo>
                  <a:lnTo>
                    <a:pt x="24385524" y="1524"/>
                  </a:lnTo>
                  <a:lnTo>
                    <a:pt x="24385524" y="3048"/>
                  </a:lnTo>
                  <a:lnTo>
                    <a:pt x="1524" y="3048"/>
                  </a:lnTo>
                  <a:close/>
                </a:path>
              </a:pathLst>
            </a:custGeom>
            <a:solidFill>
              <a:srgbClr val="FBE5D6"/>
            </a:solidFill>
          </p:spPr>
        </p:sp>
        <p:sp>
          <p:nvSpPr>
            <p:cNvPr id="5" name="TextBox 5"/>
            <p:cNvSpPr txBox="1"/>
            <p:nvPr/>
          </p:nvSpPr>
          <p:spPr>
            <a:xfrm>
              <a:off x="0" y="-504825"/>
              <a:ext cx="24384000" cy="2469851"/>
            </a:xfrm>
            <a:prstGeom prst="rect">
              <a:avLst/>
            </a:prstGeom>
          </p:spPr>
          <p:txBody>
            <a:bodyPr lIns="50800" tIns="50800" rIns="50800" bIns="50800" rtlCol="0" anchor="t"/>
            <a:lstStyle/>
            <a:p>
              <a:pPr algn="ctr">
                <a:lnSpc>
                  <a:spcPts val="11880"/>
                </a:lnSpc>
              </a:pPr>
              <a:r>
                <a:rPr lang="en-US" sz="6600">
                  <a:solidFill>
                    <a:srgbClr val="000000"/>
                  </a:solidFill>
                  <a:latin typeface="Arial"/>
                  <a:ea typeface="Arial"/>
                  <a:cs typeface="Arial"/>
                  <a:sym typeface="Arial"/>
                </a:rPr>
                <a:t>References</a:t>
              </a:r>
            </a:p>
          </p:txBody>
        </p:sp>
      </p:grpSp>
      <p:grpSp>
        <p:nvGrpSpPr>
          <p:cNvPr id="6" name="Group 6"/>
          <p:cNvGrpSpPr/>
          <p:nvPr/>
        </p:nvGrpSpPr>
        <p:grpSpPr>
          <a:xfrm>
            <a:off x="1139817" y="2339934"/>
            <a:ext cx="15101597" cy="7525137"/>
            <a:chOff x="0" y="0"/>
            <a:chExt cx="20135462" cy="10033516"/>
          </a:xfrm>
        </p:grpSpPr>
        <p:sp>
          <p:nvSpPr>
            <p:cNvPr id="7" name="Freeform 7"/>
            <p:cNvSpPr/>
            <p:nvPr/>
          </p:nvSpPr>
          <p:spPr>
            <a:xfrm>
              <a:off x="0" y="0"/>
              <a:ext cx="20135462" cy="10033516"/>
            </a:xfrm>
            <a:custGeom>
              <a:avLst/>
              <a:gdLst/>
              <a:ahLst/>
              <a:cxnLst/>
              <a:rect l="l" t="t" r="r" b="b"/>
              <a:pathLst>
                <a:path w="20135462" h="10033516">
                  <a:moveTo>
                    <a:pt x="0" y="0"/>
                  </a:moveTo>
                  <a:lnTo>
                    <a:pt x="20135462" y="0"/>
                  </a:lnTo>
                  <a:lnTo>
                    <a:pt x="20135462" y="10033516"/>
                  </a:lnTo>
                  <a:lnTo>
                    <a:pt x="0" y="10033516"/>
                  </a:lnTo>
                  <a:close/>
                </a:path>
              </a:pathLst>
            </a:custGeom>
            <a:solidFill>
              <a:srgbClr val="000000">
                <a:alpha val="0"/>
              </a:srgbClr>
            </a:solidFill>
          </p:spPr>
        </p:sp>
        <p:sp>
          <p:nvSpPr>
            <p:cNvPr id="8" name="TextBox 8"/>
            <p:cNvSpPr txBox="1"/>
            <p:nvPr/>
          </p:nvSpPr>
          <p:spPr>
            <a:xfrm>
              <a:off x="0" y="-66675"/>
              <a:ext cx="20135462" cy="10100191"/>
            </a:xfrm>
            <a:prstGeom prst="rect">
              <a:avLst/>
            </a:prstGeom>
          </p:spPr>
          <p:txBody>
            <a:bodyPr lIns="0" tIns="0" rIns="0" bIns="0" rtlCol="0" anchor="t"/>
            <a:lstStyle/>
            <a:p>
              <a:pPr marL="542925" lvl="1" indent="-271462" algn="l">
                <a:lnSpc>
                  <a:spcPts val="3600"/>
                </a:lnSpc>
                <a:buFont typeface="Arial"/>
                <a:buChar char="•"/>
              </a:pPr>
              <a:r>
                <a:rPr lang="en-US" sz="3000">
                  <a:solidFill>
                    <a:srgbClr val="000000"/>
                  </a:solidFill>
                  <a:latin typeface="Calibri (MS)"/>
                  <a:ea typeface="Calibri (MS)"/>
                  <a:cs typeface="Calibri (MS)"/>
                  <a:sym typeface="Calibri (MS)"/>
                </a:rPr>
                <a:t>Survey of Natural Language Processing for Education: Taxonomy, Systematic Review, and Future TrendsJustin23456543. (2024). ESP32. arXiv. Retrieved from </a:t>
              </a:r>
              <a:r>
                <a:rPr lang="en-US" sz="3000" u="sng">
                  <a:solidFill>
                    <a:srgbClr val="0563C1"/>
                  </a:solidFill>
                  <a:latin typeface="Calibri (MS)"/>
                  <a:ea typeface="Calibri (MS)"/>
                  <a:cs typeface="Calibri (MS)"/>
                  <a:sym typeface="Calibri (MS)"/>
                  <a:hlinkClick r:id="rId2" tooltip="https://ar5iv.labs.arxiv.org/html/2401.07518"/>
                </a:rPr>
                <a:t>https://ar5iv.labs.arxiv.org/html/2401.07518</a:t>
              </a:r>
            </a:p>
            <a:p>
              <a:pPr marL="542925" lvl="1" indent="-271462" algn="l">
                <a:lnSpc>
                  <a:spcPts val="3600"/>
                </a:lnSpc>
              </a:pPr>
              <a:r>
                <a:rPr lang="en-US" sz="3000">
                  <a:solidFill>
                    <a:srgbClr val="000000"/>
                  </a:solidFill>
                  <a:latin typeface="Calibri (MS)"/>
                  <a:ea typeface="Calibri (MS)"/>
                  <a:cs typeface="Calibri (MS)"/>
                  <a:sym typeface="Calibri (MS)"/>
                </a:rPr>
                <a:t>	</a:t>
              </a:r>
            </a:p>
            <a:p>
              <a:pPr marL="542925" lvl="1" indent="-271462" algn="l">
                <a:lnSpc>
                  <a:spcPts val="3600"/>
                </a:lnSpc>
                <a:buFont typeface="Arial"/>
                <a:buChar char="•"/>
              </a:pPr>
              <a:r>
                <a:rPr lang="en-US" sz="3000">
                  <a:solidFill>
                    <a:srgbClr val="000000"/>
                  </a:solidFill>
                  <a:latin typeface="Calibri (MS)"/>
                  <a:ea typeface="Calibri (MS)"/>
                  <a:cs typeface="Calibri (MS)"/>
                  <a:sym typeface="Calibri (MS)"/>
                </a:rPr>
                <a:t>A Systematic Literature Review on the Applications of Robots and Natural  Language Processing in Education                                                                                                                                                                                                     </a:t>
              </a:r>
              <a:r>
                <a:rPr lang="en-US" sz="3000" u="sng">
                  <a:solidFill>
                    <a:srgbClr val="2F5597"/>
                  </a:solidFill>
                  <a:latin typeface="Calibri (MS)"/>
                  <a:ea typeface="Calibri (MS)"/>
                  <a:cs typeface="Calibri (MS)"/>
                  <a:sym typeface="Calibri (MS)"/>
                </a:rPr>
                <a:t>Justin23456543. (2024). ESP32. MDPI. Retrieved from https://www.mdpi.com/2079-9292/12/13/2864 </a:t>
              </a:r>
            </a:p>
            <a:p>
              <a:pPr marL="542925" lvl="1" indent="-271462" algn="l">
                <a:lnSpc>
                  <a:spcPts val="3600"/>
                </a:lnSpc>
              </a:pPr>
              <a:endParaRPr lang="en-US" sz="3000" u="sng">
                <a:solidFill>
                  <a:srgbClr val="2F5597"/>
                </a:solidFill>
                <a:latin typeface="Calibri (MS)"/>
                <a:ea typeface="Calibri (MS)"/>
                <a:cs typeface="Calibri (MS)"/>
                <a:sym typeface="Calibri (MS)"/>
              </a:endParaRPr>
            </a:p>
            <a:p>
              <a:pPr marL="542925" lvl="1" indent="-271462" algn="l">
                <a:lnSpc>
                  <a:spcPts val="3600"/>
                </a:lnSpc>
                <a:buFont typeface="Arial"/>
                <a:buChar char="•"/>
              </a:pPr>
              <a:r>
                <a:rPr lang="en-US" sz="3000">
                  <a:solidFill>
                    <a:srgbClr val="000000"/>
                  </a:solidFill>
                  <a:latin typeface="Calibri (MS)"/>
                  <a:ea typeface="Calibri (MS)"/>
                  <a:cs typeface="Calibri (MS)"/>
                  <a:sym typeface="Calibri (MS)"/>
                </a:rPr>
                <a:t>Deshmukh, R. R. (2015). </a:t>
              </a:r>
              <a:r>
                <a:rPr lang="en-US" sz="3000" i="1">
                  <a:solidFill>
                    <a:srgbClr val="000000"/>
                  </a:solidFill>
                  <a:latin typeface="Calibri (MS) Italics"/>
                  <a:ea typeface="Calibri (MS) Italics"/>
                  <a:cs typeface="Calibri (MS) Italics"/>
                  <a:sym typeface="Calibri (MS) Italics"/>
                </a:rPr>
                <a:t>Speech recognition techniques: A review</a:t>
              </a:r>
              <a:r>
                <a:rPr lang="en-US" sz="3000">
                  <a:solidFill>
                    <a:srgbClr val="000000"/>
                  </a:solidFill>
                  <a:latin typeface="Calibri (MS)"/>
                  <a:ea typeface="Calibri (MS)"/>
                  <a:cs typeface="Calibri (MS)"/>
                  <a:sym typeface="Calibri (MS)"/>
                </a:rPr>
                <a:t>. ResearchGate. </a:t>
              </a:r>
              <a:r>
                <a:rPr lang="en-US" sz="3000" u="sng">
                  <a:solidFill>
                    <a:srgbClr val="0563C1"/>
                  </a:solidFill>
                  <a:latin typeface="Calibri (MS)"/>
                  <a:ea typeface="Calibri (MS)"/>
                  <a:cs typeface="Calibri (MS)"/>
                  <a:sym typeface="Calibri (MS)"/>
                  <a:hlinkClick r:id="rId3" tooltip="https://www.researchgate.net/publication/281901068_Speech_Recognition_Techniques_A_Review"/>
                </a:rPr>
                <a:t>https://www.researchgate.net/publication/281901068_Speech_Recognition_Techniques_A_Review</a:t>
              </a:r>
            </a:p>
            <a:p>
              <a:pPr marL="542925" lvl="1" indent="-271462" algn="l">
                <a:lnSpc>
                  <a:spcPts val="3600"/>
                </a:lnSpc>
              </a:pPr>
              <a:endParaRPr lang="en-US" sz="3000" u="sng">
                <a:solidFill>
                  <a:srgbClr val="0563C1"/>
                </a:solidFill>
                <a:latin typeface="Calibri (MS)"/>
                <a:ea typeface="Calibri (MS)"/>
                <a:cs typeface="Calibri (MS)"/>
                <a:sym typeface="Calibri (MS)"/>
                <a:hlinkClick r:id="rId3" tooltip="https://www.researchgate.net/publication/281901068_Speech_Recognition_Techniques_A_Review"/>
              </a:endParaRPr>
            </a:p>
            <a:p>
              <a:pPr marL="542925" lvl="1" indent="-271462" algn="l">
                <a:lnSpc>
                  <a:spcPts val="3600"/>
                </a:lnSpc>
                <a:buFont typeface="Arial"/>
                <a:buChar char="•"/>
              </a:pPr>
              <a:r>
                <a:rPr lang="en-US" sz="3000" b="1">
                  <a:solidFill>
                    <a:srgbClr val="000000"/>
                  </a:solidFill>
                  <a:latin typeface="Calibri (MS) Bold"/>
                  <a:ea typeface="Calibri (MS) Bold"/>
                  <a:cs typeface="Calibri (MS) Bold"/>
                  <a:sym typeface="Calibri (MS) Bold"/>
                </a:rPr>
                <a:t>Luckin, R., Holmes, W., Griffiths, M., &amp; Forcier, L. B. (2019).</a:t>
              </a:r>
              <a:r>
                <a:rPr lang="en-US" sz="3000">
                  <a:solidFill>
                    <a:srgbClr val="000000"/>
                  </a:solidFill>
                  <a:latin typeface="Calibri (MS)"/>
                  <a:ea typeface="Calibri (MS)"/>
                  <a:cs typeface="Calibri (MS)"/>
                  <a:sym typeface="Calibri (MS)"/>
                </a:rPr>
                <a:t> </a:t>
              </a:r>
              <a:r>
                <a:rPr lang="en-US" sz="3000" i="1">
                  <a:solidFill>
                    <a:srgbClr val="000000"/>
                  </a:solidFill>
                  <a:latin typeface="Calibri (MS) Italics"/>
                  <a:ea typeface="Calibri (MS) Italics"/>
                  <a:cs typeface="Calibri (MS) Italics"/>
                  <a:sym typeface="Calibri (MS) Italics"/>
                </a:rPr>
                <a:t>Artificial Intelligence in Education: Promise and Implications for Teaching and Learning</a:t>
              </a:r>
              <a:r>
                <a:rPr lang="en-US" sz="3000">
                  <a:solidFill>
                    <a:srgbClr val="000000"/>
                  </a:solidFill>
                  <a:latin typeface="Calibri (MS)"/>
                  <a:ea typeface="Calibri (MS)"/>
                  <a:cs typeface="Calibri (MS)"/>
                  <a:sym typeface="Calibri (MS)"/>
                </a:rPr>
                <a:t>. Retrieved from </a:t>
              </a:r>
              <a:r>
                <a:rPr lang="en-US" sz="3000" u="sng">
                  <a:solidFill>
                    <a:srgbClr val="0563C1"/>
                  </a:solidFill>
                  <a:latin typeface="Calibri (MS)"/>
                  <a:ea typeface="Calibri (MS)"/>
                  <a:cs typeface="Calibri (MS)"/>
                  <a:sym typeface="Calibri (MS)"/>
                  <a:hlinkClick r:id="rId4" tooltip="https://www.researchgate.net/publication/332180327_Artificial_Intelligence_in_Education_Promise_and_Implications_for_Teaching_and_Learning"/>
                </a:rPr>
                <a:t>ResearchGate</a:t>
              </a:r>
              <a:r>
                <a:rPr lang="en-US" sz="3000">
                  <a:solidFill>
                    <a:srgbClr val="000000"/>
                  </a:solidFill>
                  <a:latin typeface="Calibri (MS)"/>
                  <a:ea typeface="Calibri (MS)"/>
                  <a:cs typeface="Calibri (MS)"/>
                  <a:sym typeface="Calibri (MS)"/>
                </a:rPr>
                <a: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1194</Words>
  <Application>Microsoft Office PowerPoint</Application>
  <PresentationFormat>Custom</PresentationFormat>
  <Paragraphs>152</Paragraphs>
  <Slides>27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27</vt:i4>
      </vt:variant>
    </vt:vector>
  </HeadingPairs>
  <TitlesOfParts>
    <vt:vector size="41" baseType="lpstr">
      <vt:lpstr>Calibri (MS) Italics</vt:lpstr>
      <vt:lpstr>Arial Bold</vt:lpstr>
      <vt:lpstr>Arimo Bold</vt:lpstr>
      <vt:lpstr>Arimo Italics</vt:lpstr>
      <vt:lpstr>Arial</vt:lpstr>
      <vt:lpstr>Calibri (MS) Bold</vt:lpstr>
      <vt:lpstr>Calibri</vt:lpstr>
      <vt:lpstr>Times New Roman</vt:lpstr>
      <vt:lpstr>Times New Roman Bold</vt:lpstr>
      <vt:lpstr>Canva Sans</vt:lpstr>
      <vt:lpstr>Calibri (MS)</vt:lpstr>
      <vt:lpstr>Arimo</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PROJECT_REVIEW_final.pptx</dc:title>
  <dc:creator>Admin</dc:creator>
  <cp:lastModifiedBy>Admin</cp:lastModifiedBy>
  <cp:revision>2</cp:revision>
  <dcterms:created xsi:type="dcterms:W3CDTF">2006-08-16T00:00:00Z</dcterms:created>
  <dcterms:modified xsi:type="dcterms:W3CDTF">2025-05-07T18:04:41Z</dcterms:modified>
  <dc:identifier>DAGmx8rlVlk</dc:identifier>
</cp:coreProperties>
</file>